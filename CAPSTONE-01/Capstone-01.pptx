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E63BFC-CAC8-45FD-8FA7-D15D374EBDBC}" v="11" dt="2025-11-07T11:16:36.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ana Priya S" userId="4e246c4666920b9d" providerId="LiveId" clId="{39786B18-EB7A-423D-8FC0-854C126C319E}"/>
    <pc:docChg chg="undo custSel modSld">
      <pc:chgData name="Keerthana Priya S" userId="4e246c4666920b9d" providerId="LiveId" clId="{39786B18-EB7A-423D-8FC0-854C126C319E}" dt="2025-11-07T11:17:04.067" v="476" actId="1076"/>
      <pc:docMkLst>
        <pc:docMk/>
      </pc:docMkLst>
      <pc:sldChg chg="modSp mod">
        <pc:chgData name="Keerthana Priya S" userId="4e246c4666920b9d" providerId="LiveId" clId="{39786B18-EB7A-423D-8FC0-854C126C319E}" dt="2025-11-07T10:47:35.839" v="0" actId="14100"/>
        <pc:sldMkLst>
          <pc:docMk/>
          <pc:sldMk cId="2115569322" sldId="258"/>
        </pc:sldMkLst>
        <pc:spChg chg="mod">
          <ac:chgData name="Keerthana Priya S" userId="4e246c4666920b9d" providerId="LiveId" clId="{39786B18-EB7A-423D-8FC0-854C126C319E}" dt="2025-11-07T10:47:35.839" v="0" actId="14100"/>
          <ac:spMkLst>
            <pc:docMk/>
            <pc:sldMk cId="2115569322" sldId="258"/>
            <ac:spMk id="4" creationId="{3683BFFB-AF19-6814-B228-F96348392EFA}"/>
          </ac:spMkLst>
        </pc:spChg>
      </pc:sldChg>
      <pc:sldChg chg="modSp mod">
        <pc:chgData name="Keerthana Priya S" userId="4e246c4666920b9d" providerId="LiveId" clId="{39786B18-EB7A-423D-8FC0-854C126C319E}" dt="2025-11-07T10:58:42.574" v="78" actId="14100"/>
        <pc:sldMkLst>
          <pc:docMk/>
          <pc:sldMk cId="3576584048" sldId="259"/>
        </pc:sldMkLst>
        <pc:spChg chg="mod">
          <ac:chgData name="Keerthana Priya S" userId="4e246c4666920b9d" providerId="LiveId" clId="{39786B18-EB7A-423D-8FC0-854C126C319E}" dt="2025-11-07T10:53:20.805" v="40" actId="20577"/>
          <ac:spMkLst>
            <pc:docMk/>
            <pc:sldMk cId="3576584048" sldId="259"/>
            <ac:spMk id="3" creationId="{0274BB8D-0199-F020-CD57-0736F9E43E6B}"/>
          </ac:spMkLst>
        </pc:spChg>
        <pc:spChg chg="mod">
          <ac:chgData name="Keerthana Priya S" userId="4e246c4666920b9d" providerId="LiveId" clId="{39786B18-EB7A-423D-8FC0-854C126C319E}" dt="2025-11-07T10:58:42.574" v="78" actId="14100"/>
          <ac:spMkLst>
            <pc:docMk/>
            <pc:sldMk cId="3576584048" sldId="259"/>
            <ac:spMk id="5" creationId="{85E0FF65-D2D1-64FB-1F01-1A07C63DDF2A}"/>
          </ac:spMkLst>
        </pc:spChg>
      </pc:sldChg>
      <pc:sldChg chg="addSp delSp modSp mod">
        <pc:chgData name="Keerthana Priya S" userId="4e246c4666920b9d" providerId="LiveId" clId="{39786B18-EB7A-423D-8FC0-854C126C319E}" dt="2025-11-07T11:03:05.257" v="106" actId="1076"/>
        <pc:sldMkLst>
          <pc:docMk/>
          <pc:sldMk cId="3806707783" sldId="260"/>
        </pc:sldMkLst>
        <pc:spChg chg="add del mod">
          <ac:chgData name="Keerthana Priya S" userId="4e246c4666920b9d" providerId="LiveId" clId="{39786B18-EB7A-423D-8FC0-854C126C319E}" dt="2025-11-07T11:03:00.831" v="105"/>
          <ac:spMkLst>
            <pc:docMk/>
            <pc:sldMk cId="3806707783" sldId="260"/>
            <ac:spMk id="3" creationId="{2AD5B472-342C-D759-2FDC-42BF1400A303}"/>
          </ac:spMkLst>
        </pc:spChg>
        <pc:spChg chg="mod">
          <ac:chgData name="Keerthana Priya S" userId="4e246c4666920b9d" providerId="LiveId" clId="{39786B18-EB7A-423D-8FC0-854C126C319E}" dt="2025-11-07T11:02:59.259" v="103" actId="255"/>
          <ac:spMkLst>
            <pc:docMk/>
            <pc:sldMk cId="3806707783" sldId="260"/>
            <ac:spMk id="4" creationId="{8B188BAF-12B8-42BC-AFF8-3CD910303BBE}"/>
          </ac:spMkLst>
        </pc:spChg>
        <pc:picChg chg="add mod">
          <ac:chgData name="Keerthana Priya S" userId="4e246c4666920b9d" providerId="LiveId" clId="{39786B18-EB7A-423D-8FC0-854C126C319E}" dt="2025-11-07T11:03:05.257" v="106" actId="1076"/>
          <ac:picMkLst>
            <pc:docMk/>
            <pc:sldMk cId="3806707783" sldId="260"/>
            <ac:picMk id="7" creationId="{F1CA6BFB-715E-F0A5-CE6F-E46989964E85}"/>
          </ac:picMkLst>
        </pc:picChg>
      </pc:sldChg>
      <pc:sldChg chg="addSp delSp modSp mod">
        <pc:chgData name="Keerthana Priya S" userId="4e246c4666920b9d" providerId="LiveId" clId="{39786B18-EB7A-423D-8FC0-854C126C319E}" dt="2025-11-07T11:13:01.391" v="312" actId="14100"/>
        <pc:sldMkLst>
          <pc:docMk/>
          <pc:sldMk cId="291324891" sldId="261"/>
        </pc:sldMkLst>
        <pc:spChg chg="add del mod">
          <ac:chgData name="Keerthana Priya S" userId="4e246c4666920b9d" providerId="LiveId" clId="{39786B18-EB7A-423D-8FC0-854C126C319E}" dt="2025-11-07T11:06:10.046" v="129"/>
          <ac:spMkLst>
            <pc:docMk/>
            <pc:sldMk cId="291324891" sldId="261"/>
            <ac:spMk id="3" creationId="{D6AD1B2B-44BD-CE56-1799-308ADE80AA91}"/>
          </ac:spMkLst>
        </pc:spChg>
        <pc:spChg chg="mod">
          <ac:chgData name="Keerthana Priya S" userId="4e246c4666920b9d" providerId="LiveId" clId="{39786B18-EB7A-423D-8FC0-854C126C319E}" dt="2025-11-07T11:13:01.391" v="312" actId="14100"/>
          <ac:spMkLst>
            <pc:docMk/>
            <pc:sldMk cId="291324891" sldId="261"/>
            <ac:spMk id="6" creationId="{F4445853-0B9C-7946-0D2E-3C7AB950682F}"/>
          </ac:spMkLst>
        </pc:spChg>
        <pc:picChg chg="add mod">
          <ac:chgData name="Keerthana Priya S" userId="4e246c4666920b9d" providerId="LiveId" clId="{39786B18-EB7A-423D-8FC0-854C126C319E}" dt="2025-11-07T11:06:08.737" v="127" actId="1076"/>
          <ac:picMkLst>
            <pc:docMk/>
            <pc:sldMk cId="291324891" sldId="261"/>
            <ac:picMk id="7" creationId="{520328C4-2D42-9FB7-DACD-F999C2BA8053}"/>
          </ac:picMkLst>
        </pc:picChg>
      </pc:sldChg>
      <pc:sldChg chg="addSp delSp modSp mod">
        <pc:chgData name="Keerthana Priya S" userId="4e246c4666920b9d" providerId="LiveId" clId="{39786B18-EB7A-423D-8FC0-854C126C319E}" dt="2025-11-07T11:17:04.067" v="476" actId="1076"/>
        <pc:sldMkLst>
          <pc:docMk/>
          <pc:sldMk cId="787646498" sldId="262"/>
        </pc:sldMkLst>
        <pc:spChg chg="mod">
          <ac:chgData name="Keerthana Priya S" userId="4e246c4666920b9d" providerId="LiveId" clId="{39786B18-EB7A-423D-8FC0-854C126C319E}" dt="2025-11-07T11:15:11.080" v="462" actId="14100"/>
          <ac:spMkLst>
            <pc:docMk/>
            <pc:sldMk cId="787646498" sldId="262"/>
            <ac:spMk id="3" creationId="{C8EEFC46-00B0-9E2D-B245-B9498F4F75CB}"/>
          </ac:spMkLst>
        </pc:spChg>
        <pc:spChg chg="add del mod">
          <ac:chgData name="Keerthana Priya S" userId="4e246c4666920b9d" providerId="LiveId" clId="{39786B18-EB7A-423D-8FC0-854C126C319E}" dt="2025-11-07T11:16:54.258" v="475"/>
          <ac:spMkLst>
            <pc:docMk/>
            <pc:sldMk cId="787646498" sldId="262"/>
            <ac:spMk id="4" creationId="{417EAA64-7CFA-4669-F19F-DDD961E34F29}"/>
          </ac:spMkLst>
        </pc:spChg>
        <pc:picChg chg="add mod">
          <ac:chgData name="Keerthana Priya S" userId="4e246c4666920b9d" providerId="LiveId" clId="{39786B18-EB7A-423D-8FC0-854C126C319E}" dt="2025-11-07T11:17:04.067" v="476" actId="1076"/>
          <ac:picMkLst>
            <pc:docMk/>
            <pc:sldMk cId="787646498" sldId="262"/>
            <ac:picMk id="7" creationId="{9FE10C5C-8634-079B-78E5-D3964AD5FBD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09A77-C147-B1FD-9139-EB477AE9EB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CBA19F-0083-1537-7C08-A7B801910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050F3E-70C8-A1C4-780D-DDE7F281F72E}"/>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A2BE0DE3-9265-B96A-8815-DE4835993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751EB-682B-99D5-DA14-E60C3C0A3C54}"/>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02131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1E3-8037-BE6F-B4A6-E4AB74EF88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18E225-010E-9DA0-5068-EF2FDE4BB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C5DE6-FACD-C94A-C67C-4F3372796F6D}"/>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97FA9AF5-A13F-F886-06FA-642B57661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E1A9BC-F27B-3E53-939A-56320E5C5739}"/>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15942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CB12-4B71-1B8C-157D-A08C82D65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44F063-D2D2-E105-A3B7-01584DD6C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3032D-B4B8-4443-74CA-67A9BD194954}"/>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B133E9BF-FF3F-E542-5D96-3B0C09B13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B6A5A-91F8-A719-8F8B-4FE27B8CC4F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67949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9050-05BA-7DCC-C39A-DADD06EA5C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7671E-44E3-2F08-1351-9C6F00D02A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E8C00F-96DA-0446-68FF-ED9743603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973387-363F-10E0-74F1-73AA39F4A396}"/>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6" name="Footer Placeholder 5">
            <a:extLst>
              <a:ext uri="{FF2B5EF4-FFF2-40B4-BE49-F238E27FC236}">
                <a16:creationId xmlns:a16="http://schemas.microsoft.com/office/drawing/2014/main" id="{2E350D7A-4C6A-5C34-6F4E-EA32BBA889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0BB4A7-2563-030C-7382-77A591B26D7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93238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5F14-BFAE-2884-D8ED-B9A1084E38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43364A-20D8-809B-09A1-C795CABE0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0A4D6-7230-3EDF-6116-7C38F0DE0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D9A00F-F31C-00D6-744B-C8BE28FA9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20348-330B-C957-4621-698C7F667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60C0B5-CF6A-D09B-6FC4-341C29CC12F0}"/>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8" name="Footer Placeholder 7">
            <a:extLst>
              <a:ext uri="{FF2B5EF4-FFF2-40B4-BE49-F238E27FC236}">
                <a16:creationId xmlns:a16="http://schemas.microsoft.com/office/drawing/2014/main" id="{0EBB677E-2EDC-D67B-965B-13E43B3404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102C4D-0725-2168-A8D1-EB4B42BCDDAA}"/>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90595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A779-C0F8-6C60-F2F8-9DCE921965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EF66D3-8187-7C65-BA62-FAE7B163DF97}"/>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4" name="Footer Placeholder 3">
            <a:extLst>
              <a:ext uri="{FF2B5EF4-FFF2-40B4-BE49-F238E27FC236}">
                <a16:creationId xmlns:a16="http://schemas.microsoft.com/office/drawing/2014/main" id="{EF347678-40F1-EFBF-1C71-A7A1545421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FFA58E-669B-7F79-7B54-7FAE8499FB2F}"/>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5040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DF934-12F7-97E9-7DB0-6E41F5F0D090}"/>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3" name="Footer Placeholder 2">
            <a:extLst>
              <a:ext uri="{FF2B5EF4-FFF2-40B4-BE49-F238E27FC236}">
                <a16:creationId xmlns:a16="http://schemas.microsoft.com/office/drawing/2014/main" id="{E860BF61-B1D3-B818-3766-3A576D04D2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07C1CE-5369-E3F3-4DC6-551292B70C6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852356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6C33-FB1A-5898-4598-CAD44AA26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13720A-DC75-A0EB-1D78-D3EAEFDCD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8DF845-1430-5890-AF76-C2330BECB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85CC5-2E09-A7DE-798B-C4E4E3EC0C8B}"/>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6" name="Footer Placeholder 5">
            <a:extLst>
              <a:ext uri="{FF2B5EF4-FFF2-40B4-BE49-F238E27FC236}">
                <a16:creationId xmlns:a16="http://schemas.microsoft.com/office/drawing/2014/main" id="{EB395BBA-E803-C778-97E4-011316C708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BBFA0-1334-BA7E-6156-3A7CA53BEE3E}"/>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18187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0B11-2D62-B2E6-D640-19F1FC3AC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2CAB0D-F8FA-839C-CC4F-55DD4BAF3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393718-A932-F370-6181-75A272F5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06EBB-ED6C-D9F9-7326-60C43DFF6B6F}"/>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6" name="Footer Placeholder 5">
            <a:extLst>
              <a:ext uri="{FF2B5EF4-FFF2-40B4-BE49-F238E27FC236}">
                <a16:creationId xmlns:a16="http://schemas.microsoft.com/office/drawing/2014/main" id="{50A6B0BD-2F76-7FE9-9400-176707973C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96AA4-C81C-744B-DAA3-7CD69DC6E186}"/>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43153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3428-02E5-4908-BCC7-84B133D0FB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ACC2CC-6EAF-B25A-B38C-2A090E9B0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B56641-3EAF-97BB-A494-B0FCFB857BD5}"/>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E003B72D-E111-52F6-6D73-B32E32E09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8005E-481A-85BA-C998-22676C4D2EA3}"/>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30518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41D97-28E8-9CD1-9CF8-99D1DE81B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AD63C-27FB-ADA2-4B93-78716C6D1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B263C-3687-6024-3C83-5B74203D759F}"/>
              </a:ext>
            </a:extLst>
          </p:cNvPr>
          <p:cNvSpPr>
            <a:spLocks noGrp="1"/>
          </p:cNvSpPr>
          <p:nvPr>
            <p:ph type="dt" sz="half" idx="10"/>
          </p:nvPr>
        </p:nvSpPr>
        <p:spPr/>
        <p:txBody>
          <a:body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705DF7E9-248A-526B-B15E-6F04D6DBB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CCC18-39D6-152F-88FE-0CAF7390C48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1497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CE4823-32C6-7967-7053-331734FFC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055076-9E0C-8358-1357-67060CF94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856AD-F11E-3678-EF5D-91E665F1C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07-11-2025</a:t>
            </a:fld>
            <a:endParaRPr lang="en-IN"/>
          </a:p>
        </p:txBody>
      </p:sp>
      <p:sp>
        <p:nvSpPr>
          <p:cNvPr id="5" name="Footer Placeholder 4">
            <a:extLst>
              <a:ext uri="{FF2B5EF4-FFF2-40B4-BE49-F238E27FC236}">
                <a16:creationId xmlns:a16="http://schemas.microsoft.com/office/drawing/2014/main" id="{C339D20A-5A27-0BD5-E9C9-75DBD442E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385303-2260-B5AB-F87B-69EDC90F2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extLst>
      <p:ext uri="{BB962C8B-B14F-4D97-AF65-F5344CB8AC3E}">
        <p14:creationId xmlns:p14="http://schemas.microsoft.com/office/powerpoint/2010/main" val="1231965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A89-72E0-CD64-0D89-F587402ACA62}"/>
              </a:ext>
            </a:extLst>
          </p:cNvPr>
          <p:cNvSpPr>
            <a:spLocks noGrp="1"/>
          </p:cNvSpPr>
          <p:nvPr>
            <p:ph type="ctrTitle"/>
          </p:nvPr>
        </p:nvSpPr>
        <p:spPr>
          <a:xfrm>
            <a:off x="1524000" y="2144487"/>
            <a:ext cx="9144000" cy="1654627"/>
          </a:xfrm>
        </p:spPr>
        <p:txBody>
          <a:bodyPr>
            <a:noAutofit/>
          </a:bodyPr>
          <a:lstStyle/>
          <a:p>
            <a:pPr>
              <a:lnSpc>
                <a:spcPct val="200000"/>
              </a:lnSpc>
            </a:pP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t>Capstone Project1 </a:t>
            </a:r>
            <a:b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br>
            <a:r>
              <a:rPr lang="en-US" sz="2400" b="1" dirty="0">
                <a:solidFill>
                  <a:srgbClr val="0C3571"/>
                </a:solidFill>
                <a:latin typeface="Times New Roman" panose="02020603050405020304" pitchFamily="18" charset="0"/>
                <a:ea typeface="Anantason Bold"/>
                <a:cs typeface="Times New Roman" panose="02020603050405020304" pitchFamily="18" charset="0"/>
                <a:sym typeface="Anantason Bold"/>
              </a:rPr>
              <a:t>MANUFACTURING  EQUIPMENT  OUTPUT PREDICTION  WITH  LINEAR  REGRESSION</a:t>
            </a:r>
            <a:br>
              <a:rPr lang="en-US" sz="1400" b="1" dirty="0">
                <a:solidFill>
                  <a:srgbClr val="0C3571"/>
                </a:solidFill>
                <a:latin typeface="Anantason Bold"/>
                <a:ea typeface="Anantason Bold"/>
                <a:cs typeface="Anantason Bold"/>
                <a:sym typeface="Anantason Bold"/>
              </a:rPr>
            </a:br>
            <a:endParaRPr lang="en-IN" sz="1400" dirty="0"/>
          </a:p>
        </p:txBody>
      </p:sp>
      <p:sp>
        <p:nvSpPr>
          <p:cNvPr id="4" name="TextBox 3">
            <a:extLst>
              <a:ext uri="{FF2B5EF4-FFF2-40B4-BE49-F238E27FC236}">
                <a16:creationId xmlns:a16="http://schemas.microsoft.com/office/drawing/2014/main" id="{B41FCD4F-364D-74AE-4D1A-A3A2E5DC4AED}"/>
              </a:ext>
            </a:extLst>
          </p:cNvPr>
          <p:cNvSpPr txBox="1"/>
          <p:nvPr/>
        </p:nvSpPr>
        <p:spPr>
          <a:xfrm>
            <a:off x="7461068" y="4225385"/>
            <a:ext cx="4125685" cy="2185214"/>
          </a:xfrm>
          <a:prstGeom prst="rect">
            <a:avLst/>
          </a:prstGeom>
          <a:noFill/>
        </p:spPr>
        <p:txBody>
          <a:bodyPr wrap="square" rtlCol="0">
            <a:spAutoFit/>
          </a:bodyPr>
          <a:lstStyle/>
          <a:p>
            <a:r>
              <a:rPr lang="en-IN" sz="2800"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T120100319: Keerthanapriya 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T120100328: Rida </a:t>
            </a:r>
            <a:r>
              <a:rPr lang="en-IN" dirty="0" err="1">
                <a:solidFill>
                  <a:schemeClr val="accent1">
                    <a:lumMod val="75000"/>
                  </a:schemeClr>
                </a:solidFill>
                <a:latin typeface="Times New Roman" panose="02020603050405020304" pitchFamily="18" charset="0"/>
                <a:cs typeface="Times New Roman" panose="02020603050405020304" pitchFamily="18" charset="0"/>
              </a:rPr>
              <a:t>Afnar</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dirty="0">
                <a:solidFill>
                  <a:schemeClr val="accent1">
                    <a:lumMod val="75000"/>
                  </a:schemeClr>
                </a:solidFill>
                <a:latin typeface="Times New Roman" panose="02020603050405020304" pitchFamily="18" charset="0"/>
                <a:cs typeface="Times New Roman" panose="02020603050405020304" pitchFamily="18" charset="0"/>
              </a:rPr>
              <a:t>T120100329: </a:t>
            </a:r>
            <a:r>
              <a:rPr lang="en-IN" dirty="0" err="1">
                <a:solidFill>
                  <a:schemeClr val="accent1">
                    <a:lumMod val="75000"/>
                  </a:schemeClr>
                </a:solidFill>
                <a:latin typeface="Times New Roman" panose="02020603050405020304" pitchFamily="18" charset="0"/>
                <a:cs typeface="Times New Roman" panose="02020603050405020304" pitchFamily="18" charset="0"/>
              </a:rPr>
              <a:t>Rukhaiya</a:t>
            </a:r>
            <a:r>
              <a:rPr lang="en-IN" dirty="0">
                <a:solidFill>
                  <a:schemeClr val="accent1">
                    <a:lumMod val="75000"/>
                  </a:schemeClr>
                </a:solidFill>
                <a:latin typeface="Times New Roman" panose="02020603050405020304" pitchFamily="18" charset="0"/>
                <a:cs typeface="Times New Roman" panose="02020603050405020304" pitchFamily="18" charset="0"/>
              </a:rPr>
              <a:t> Raheem</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T120100332: Sinchana H 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T120100336: Nailah Fathima</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T120100337: Sameen Mehnaz Fathima</a:t>
            </a:r>
          </a:p>
        </p:txBody>
      </p:sp>
      <p:pic>
        <p:nvPicPr>
          <p:cNvPr id="5" name="Picture 4">
            <a:extLst>
              <a:ext uri="{FF2B5EF4-FFF2-40B4-BE49-F238E27FC236}">
                <a16:creationId xmlns:a16="http://schemas.microsoft.com/office/drawing/2014/main" id="{BE254B8B-72EC-ABF6-5764-F09EC47A123F}"/>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297999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4FF4-00BA-A1C5-E0CC-38FA5B53AD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1916FD-ED1C-0F78-2F73-11D99106FDA9}"/>
              </a:ext>
            </a:extLst>
          </p:cNvPr>
          <p:cNvSpPr txBox="1"/>
          <p:nvPr/>
        </p:nvSpPr>
        <p:spPr>
          <a:xfrm>
            <a:off x="925286" y="566057"/>
            <a:ext cx="10417628" cy="6001643"/>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Docker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74F2C56-1EF1-7471-9A81-2F481FC85A30}"/>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421595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7E26-275E-FD8A-6700-CDFB83B7B8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A81C3-AF1D-1FF4-FB6B-3C7CE9321376}"/>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E151BB3-6F53-C93A-8ACC-EB2AFC126013}"/>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3683BFFB-AF19-6814-B228-F96348392EFA}"/>
              </a:ext>
            </a:extLst>
          </p:cNvPr>
          <p:cNvSpPr txBox="1"/>
          <p:nvPr/>
        </p:nvSpPr>
        <p:spPr>
          <a:xfrm>
            <a:off x="925286" y="1827941"/>
            <a:ext cx="8950233" cy="4278094"/>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problem Statement is mainly focused on this project is related to optimizing manufacturing efficiency.</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Manufacturing industries frequently experience inefficiencies caused by fluctuations in process parameters such as temperature, pressure, and cycle time</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Goal: Develop a predictive model that uses machine and process data to estimate the Efficiency Score and enhance manufacturing performance. This model will help industries optimize production settings, minimize downtime, and maintain consistent product quality.</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11556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0222-4B3F-8348-FF0E-2F10D5B435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E0FF65-D2D1-64FB-1F01-1A07C63DDF2A}"/>
              </a:ext>
            </a:extLst>
          </p:cNvPr>
          <p:cNvSpPr txBox="1"/>
          <p:nvPr/>
        </p:nvSpPr>
        <p:spPr>
          <a:xfrm>
            <a:off x="835742" y="205968"/>
            <a:ext cx="5732206"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C55AB4-477C-5915-6F5B-EDB076153EC4}"/>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274BB8D-0199-F020-CD57-0736F9E43E6B}"/>
              </a:ext>
            </a:extLst>
          </p:cNvPr>
          <p:cNvSpPr txBox="1"/>
          <p:nvPr/>
        </p:nvSpPr>
        <p:spPr>
          <a:xfrm>
            <a:off x="925288" y="1360714"/>
            <a:ext cx="8932146" cy="4062651"/>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End-to-end Data Science workflow.</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Dataset: </a:t>
            </a:r>
            <a:r>
              <a:rPr lang="en-IN" sz="2000" dirty="0">
                <a:latin typeface="Times New Roman" panose="02020603050405020304" pitchFamily="18" charset="0"/>
                <a:cs typeface="Times New Roman" panose="02020603050405020304" pitchFamily="18" charset="0"/>
              </a:rPr>
              <a:t>manufacturing_dataset_1000_samples.csv</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Target variable: Parts produced per hour.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Techniques: Linear Regression, EDA, Feature </a:t>
            </a:r>
            <a:r>
              <a:rPr lang="en-US" sz="2000" dirty="0" err="1">
                <a:latin typeface="Times New Roman" panose="02020603050405020304" pitchFamily="18" charset="0"/>
                <a:cs typeface="Times New Roman" panose="02020603050405020304" pitchFamily="18" charset="0"/>
              </a:rPr>
              <a:t>Engincering</a:t>
            </a:r>
            <a:r>
              <a:rPr lang="en-US" sz="20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Deployment plan: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Docker.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tools includes:</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for data analysis and modeling</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Scikit-Learn for ML algorithms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Matplotlib/Seaborn for data visualization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final outcome is a model that can predict the machine efficiency.</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5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BD52-ED36-EA0E-90C9-7CF17BE5B4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A49387-6A50-6351-7188-762CE09BB55B}"/>
              </a:ext>
            </a:extLst>
          </p:cNvPr>
          <p:cNvSpPr txBox="1"/>
          <p:nvPr/>
        </p:nvSpPr>
        <p:spPr>
          <a:xfrm>
            <a:off x="905691" y="-37871"/>
            <a:ext cx="5904411"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243245C-D953-4580-E659-59C320CAE09E}"/>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8B188BAF-12B8-42BC-AFF8-3CD910303BBE}"/>
              </a:ext>
            </a:extLst>
          </p:cNvPr>
          <p:cNvSpPr txBox="1"/>
          <p:nvPr/>
        </p:nvSpPr>
        <p:spPr>
          <a:xfrm>
            <a:off x="521111" y="1224013"/>
            <a:ext cx="9497960" cy="2031325"/>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contains 19 features, including </a:t>
            </a:r>
            <a:r>
              <a:rPr lang="en-IN" dirty="0" err="1">
                <a:latin typeface="Times New Roman" panose="02020603050405020304" pitchFamily="18" charset="0"/>
                <a:cs typeface="Times New Roman" panose="02020603050405020304" pitchFamily="18" charset="0"/>
              </a:rPr>
              <a:t>Injection_Temperature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Injection_Pressure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Cycle_Time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Cooling_Time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Material_Viscosity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Ambient_Temperature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Machine_Age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Operator_Experience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Maintenance_Hours</a:t>
            </a:r>
            <a:r>
              <a:rPr lang="en-IN" dirty="0">
                <a:latin typeface="Times New Roman" panose="02020603050405020304" pitchFamily="18" charset="0"/>
                <a:cs typeface="Times New Roman" panose="02020603050405020304" pitchFamily="18" charset="0"/>
              </a:rPr>
              <a:t> etc</a:t>
            </a:r>
            <a:r>
              <a:rPr lang="en-US"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target variable is Parts produced per hour.</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 was loaded using Pandas and checked for missing </a:t>
            </a:r>
            <a:r>
              <a:rPr lang="en-US" dirty="0" err="1">
                <a:latin typeface="Times New Roman" panose="02020603050405020304" pitchFamily="18" charset="0"/>
                <a:cs typeface="Times New Roman" panose="02020603050405020304" pitchFamily="18" charset="0"/>
              </a:rPr>
              <a:t>values,data</a:t>
            </a:r>
            <a:r>
              <a:rPr lang="en-US" dirty="0">
                <a:latin typeface="Times New Roman" panose="02020603050405020304" pitchFamily="18" charset="0"/>
                <a:cs typeface="Times New Roman" panose="02020603050405020304" pitchFamily="18" charset="0"/>
              </a:rPr>
              <a:t> types, and distributions.</a:t>
            </a:r>
            <a:r>
              <a:rPr lang="en-IN" dirty="0">
                <a:latin typeface="Times New Roman" panose="02020603050405020304" pitchFamily="18" charset="0"/>
                <a:cs typeface="Times New Roman" panose="02020603050405020304" pitchFamily="18" charset="0"/>
              </a:rPr>
              <a:t>Missing values: </a:t>
            </a:r>
            <a:r>
              <a:rPr lang="en-IN" dirty="0" err="1">
                <a:latin typeface="Times New Roman" panose="02020603050405020304" pitchFamily="18" charset="0"/>
                <a:cs typeface="Times New Roman" panose="02020603050405020304" pitchFamily="18" charset="0"/>
              </a:rPr>
              <a:t>Material_Viscosity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Ambient_Temperature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Operator_Experience</a:t>
            </a:r>
            <a:r>
              <a:rPr lang="en-IN" dirty="0">
                <a:latin typeface="Times New Roman" panose="02020603050405020304" pitchFamily="18" charset="0"/>
                <a:cs typeface="Times New Roman" panose="02020603050405020304" pitchFamily="18" charset="0"/>
              </a:rPr>
              <a:t> 20 missing values each (980 non-null).</a:t>
            </a:r>
          </a:p>
        </p:txBody>
      </p:sp>
      <p:pic>
        <p:nvPicPr>
          <p:cNvPr id="7" name="Picture 6">
            <a:extLst>
              <a:ext uri="{FF2B5EF4-FFF2-40B4-BE49-F238E27FC236}">
                <a16:creationId xmlns:a16="http://schemas.microsoft.com/office/drawing/2014/main" id="{F1CA6BFB-715E-F0A5-CE6F-E46989964E85}"/>
              </a:ext>
            </a:extLst>
          </p:cNvPr>
          <p:cNvPicPr>
            <a:picLocks noChangeAspect="1"/>
          </p:cNvPicPr>
          <p:nvPr/>
        </p:nvPicPr>
        <p:blipFill>
          <a:blip r:embed="rId3"/>
          <a:stretch>
            <a:fillRect/>
          </a:stretch>
        </p:blipFill>
        <p:spPr>
          <a:xfrm>
            <a:off x="748919" y="3330677"/>
            <a:ext cx="9042343" cy="3030953"/>
          </a:xfrm>
          <a:prstGeom prst="rect">
            <a:avLst/>
          </a:prstGeom>
        </p:spPr>
      </p:pic>
    </p:spTree>
    <p:extLst>
      <p:ext uri="{BB962C8B-B14F-4D97-AF65-F5344CB8AC3E}">
        <p14:creationId xmlns:p14="http://schemas.microsoft.com/office/powerpoint/2010/main" val="380670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9203-5CAF-C401-17FF-82A26B9F7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1DDD7F-8258-D3EF-27A7-7CE6861536D7}"/>
              </a:ext>
            </a:extLst>
          </p:cNvPr>
          <p:cNvSpPr txBox="1"/>
          <p:nvPr/>
        </p:nvSpPr>
        <p:spPr>
          <a:xfrm>
            <a:off x="548641" y="0"/>
            <a:ext cx="7889966"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85696F0-A230-4170-D65B-94252D73C17B}"/>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6" name="TextBox 5">
            <a:extLst>
              <a:ext uri="{FF2B5EF4-FFF2-40B4-BE49-F238E27FC236}">
                <a16:creationId xmlns:a16="http://schemas.microsoft.com/office/drawing/2014/main" id="{F4445853-0B9C-7946-0D2E-3C7AB950682F}"/>
              </a:ext>
            </a:extLst>
          </p:cNvPr>
          <p:cNvSpPr txBox="1"/>
          <p:nvPr/>
        </p:nvSpPr>
        <p:spPr>
          <a:xfrm>
            <a:off x="548641" y="1641986"/>
            <a:ext cx="5547359" cy="3754874"/>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Dataset shape &amp; summary statistics checked.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Finding missing values &amp; outliers identified.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Distribution of target variable (Output) analyzed.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Summarizing the data using statistics or    </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visualizations to see patterns or trends.</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Purpose: To make sure the data is clean, </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meaningful, and ready for analysis or modeling.</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20328C4-2D42-9FB7-DACD-F999C2BA8053}"/>
              </a:ext>
            </a:extLst>
          </p:cNvPr>
          <p:cNvPicPr>
            <a:picLocks noChangeAspect="1"/>
          </p:cNvPicPr>
          <p:nvPr/>
        </p:nvPicPr>
        <p:blipFill>
          <a:blip r:embed="rId3"/>
          <a:stretch>
            <a:fillRect/>
          </a:stretch>
        </p:blipFill>
        <p:spPr>
          <a:xfrm>
            <a:off x="6096000" y="1343694"/>
            <a:ext cx="5731747" cy="4363932"/>
          </a:xfrm>
          <a:prstGeom prst="rect">
            <a:avLst/>
          </a:prstGeom>
        </p:spPr>
      </p:pic>
    </p:spTree>
    <p:extLst>
      <p:ext uri="{BB962C8B-B14F-4D97-AF65-F5344CB8AC3E}">
        <p14:creationId xmlns:p14="http://schemas.microsoft.com/office/powerpoint/2010/main" val="29132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D18A-46DB-F5D1-756C-F184C084F7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93F408-C014-7315-2453-24243AE17923}"/>
              </a:ext>
            </a:extLst>
          </p:cNvPr>
          <p:cNvSpPr txBox="1"/>
          <p:nvPr/>
        </p:nvSpPr>
        <p:spPr>
          <a:xfrm>
            <a:off x="446314" y="0"/>
            <a:ext cx="6877594"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B1CE53B-57E3-B251-26CE-AF290EB8254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C8EEFC46-00B0-9E2D-B245-B9498F4F75CB}"/>
              </a:ext>
            </a:extLst>
          </p:cNvPr>
          <p:cNvSpPr txBox="1"/>
          <p:nvPr/>
        </p:nvSpPr>
        <p:spPr>
          <a:xfrm>
            <a:off x="619431" y="1622323"/>
            <a:ext cx="4916129"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Discover patterns and relationships in manufacturing data to understand how machine settings and operations affect production output.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Histograms for all features distribution patterns.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Correlation matrix relationships among variables.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Scatter plots impact of cycle time, temperature, pressure on output.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Identified optimal operating ranges for parameters.</a:t>
            </a:r>
          </a:p>
        </p:txBody>
      </p:sp>
      <p:pic>
        <p:nvPicPr>
          <p:cNvPr id="7" name="Picture 6">
            <a:extLst>
              <a:ext uri="{FF2B5EF4-FFF2-40B4-BE49-F238E27FC236}">
                <a16:creationId xmlns:a16="http://schemas.microsoft.com/office/drawing/2014/main" id="{9FE10C5C-8634-079B-78E5-D3964AD5FBD1}"/>
              </a:ext>
            </a:extLst>
          </p:cNvPr>
          <p:cNvPicPr>
            <a:picLocks noChangeAspect="1"/>
          </p:cNvPicPr>
          <p:nvPr/>
        </p:nvPicPr>
        <p:blipFill>
          <a:blip r:embed="rId3"/>
          <a:stretch>
            <a:fillRect/>
          </a:stretch>
        </p:blipFill>
        <p:spPr>
          <a:xfrm>
            <a:off x="5536043" y="1622323"/>
            <a:ext cx="5485742" cy="4232033"/>
          </a:xfrm>
          <a:prstGeom prst="rect">
            <a:avLst/>
          </a:prstGeom>
        </p:spPr>
      </p:pic>
    </p:spTree>
    <p:extLst>
      <p:ext uri="{BB962C8B-B14F-4D97-AF65-F5344CB8AC3E}">
        <p14:creationId xmlns:p14="http://schemas.microsoft.com/office/powerpoint/2010/main" val="78764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CB8B-FB27-E31A-1192-5DD7AD260C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AE09B7-84D1-C90F-F404-83250821B234}"/>
              </a:ext>
            </a:extLst>
          </p:cNvPr>
          <p:cNvSpPr txBox="1"/>
          <p:nvPr/>
        </p:nvSpPr>
        <p:spPr>
          <a:xfrm>
            <a:off x="781665" y="477568"/>
            <a:ext cx="9099754" cy="1277490"/>
          </a:xfrm>
          <a:prstGeom prst="rect">
            <a:avLst/>
          </a:prstGeom>
          <a:noFill/>
        </p:spPr>
        <p:txBody>
          <a:bodyPr wrap="square" rtlCol="0">
            <a:normAutofit fontScale="25000" lnSpcReduction="20000"/>
          </a:bodyPr>
          <a:lstStyle/>
          <a:p>
            <a:pPr marL="857250" indent="-857250">
              <a:buFont typeface="Arial" panose="020B0604020202020204" pitchFamily="34" charset="0"/>
              <a:buChar char="•"/>
            </a:pPr>
            <a:endParaRPr lang="en-IN" sz="5700" dirty="0">
              <a:latin typeface="Times New Roman" panose="02020603050405020304" pitchFamily="18" charset="0"/>
              <a:cs typeface="Times New Roman" panose="02020603050405020304" pitchFamily="18" charset="0"/>
            </a:endParaRPr>
          </a:p>
          <a:p>
            <a:r>
              <a:rPr lang="en-IN" sz="16000" dirty="0">
                <a:latin typeface="Times New Roman" panose="02020603050405020304" pitchFamily="18" charset="0"/>
                <a:cs typeface="Times New Roman" panose="02020603050405020304" pitchFamily="18" charset="0"/>
              </a:rPr>
              <a:t>Data Preprocessing &amp;Feature Engineering</a:t>
            </a:r>
          </a:p>
          <a:p>
            <a:endParaRPr lang="en-IN" sz="16000" dirty="0">
              <a:latin typeface="Times New Roman" panose="02020603050405020304" pitchFamily="18" charset="0"/>
              <a:cs typeface="Times New Roman" panose="02020603050405020304" pitchFamily="18" charset="0"/>
            </a:endParaRPr>
          </a:p>
          <a:p>
            <a:pPr marL="857250" indent="-857250">
              <a:buFont typeface="Arial" panose="020B0604020202020204" pitchFamily="34" charset="0"/>
              <a:buChar char="•"/>
            </a:pPr>
            <a:endParaRPr lang="en-IN" sz="57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Checked dataset for missing values, outliers, and incorrect data types.</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Used IQR method to remove outliers for better accuracy</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Created new derived features like efficiency ratios to add more insights.</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Scaled and normalized numerical data to maintain consistency</a:t>
            </a:r>
          </a:p>
          <a:p>
            <a:endParaRPr lang="en-US" sz="6400" dirty="0">
              <a:latin typeface="Times New Roman" panose="02020603050405020304" pitchFamily="18" charset="0"/>
              <a:cs typeface="Times New Roman" panose="02020603050405020304" pitchFamily="18" charset="0"/>
            </a:endParaRPr>
          </a:p>
          <a:p>
            <a:r>
              <a:rPr lang="en-US" sz="6400" dirty="0">
                <a:latin typeface="Times New Roman" panose="02020603050405020304" pitchFamily="18" charset="0"/>
                <a:cs typeface="Times New Roman" panose="02020603050405020304" pitchFamily="18" charset="0"/>
              </a:rPr>
              <a:t>Selected important features such as:</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Injection Temperature</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Injection Pressure</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Cycle Time</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Cooling Time</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Material Viscosity</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Split dataset into Training (80%) and Testing (20%) sets.</a:t>
            </a:r>
          </a:p>
          <a:p>
            <a:pPr marL="457200" indent="-457200">
              <a:buFont typeface="Arial" panose="020B0604020202020204" pitchFamily="34" charset="0"/>
              <a:buChar char="•"/>
            </a:pPr>
            <a:endParaRPr lang="en-US" sz="6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Ensured data was clean, consistent, and ready for modeling</a:t>
            </a:r>
          </a:p>
          <a:p>
            <a:endParaRPr lang="en-US" sz="6400" dirty="0">
              <a:latin typeface="Times New Roman" panose="02020603050405020304" pitchFamily="18" charset="0"/>
              <a:cs typeface="Times New Roman" panose="02020603050405020304" pitchFamily="18" charset="0"/>
            </a:endParaRPr>
          </a:p>
          <a:p>
            <a:r>
              <a:rPr lang="en-US" sz="6400" dirty="0">
                <a:latin typeface="Times New Roman" panose="02020603050405020304" pitchFamily="18" charset="0"/>
                <a:cs typeface="Times New Roman" panose="02020603050405020304" pitchFamily="18" charset="0"/>
              </a:rPr>
              <a:t>Goal: Prepare high-quality data that helps the model learn accurate patterns.</a:t>
            </a:r>
            <a:endParaRPr lang="en-IN" sz="6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E86D32-2C91-E5D4-CDFA-9F899E55E9BC}"/>
              </a:ext>
            </a:extLst>
          </p:cNvPr>
          <p:cNvPicPr>
            <a:picLocks noChangeAspect="1"/>
          </p:cNvPicPr>
          <p:nvPr/>
        </p:nvPicPr>
        <p:blipFill>
          <a:blip r:embed="rId2"/>
          <a:stretch>
            <a:fillRect/>
          </a:stretch>
        </p:blipFill>
        <p:spPr>
          <a:xfrm>
            <a:off x="10232571" y="304800"/>
            <a:ext cx="1578429" cy="1055914"/>
          </a:xfrm>
          <a:prstGeom prst="rect">
            <a:avLst/>
          </a:prstGeom>
        </p:spPr>
      </p:pic>
      <p:pic>
        <p:nvPicPr>
          <p:cNvPr id="4" name="Picture 3">
            <a:extLst>
              <a:ext uri="{FF2B5EF4-FFF2-40B4-BE49-F238E27FC236}">
                <a16:creationId xmlns:a16="http://schemas.microsoft.com/office/drawing/2014/main" id="{66737A21-A713-E75C-F354-B2B55E5D0A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2650" y="2359742"/>
            <a:ext cx="4737927" cy="3436374"/>
          </a:xfrm>
          <a:prstGeom prst="rect">
            <a:avLst/>
          </a:prstGeom>
        </p:spPr>
      </p:pic>
    </p:spTree>
    <p:extLst>
      <p:ext uri="{BB962C8B-B14F-4D97-AF65-F5344CB8AC3E}">
        <p14:creationId xmlns:p14="http://schemas.microsoft.com/office/powerpoint/2010/main" val="22570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2712-5925-9393-290C-6311D67994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CEF693-3F1B-C86F-2FE2-E46BBF83FD9B}"/>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6A1A8DE-0F20-800C-3FA2-50793CC053F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125F6466-D541-9BC9-1C15-5C87D93C0F46}"/>
              </a:ext>
            </a:extLst>
          </p:cNvPr>
          <p:cNvSpPr txBox="1"/>
          <p:nvPr/>
        </p:nvSpPr>
        <p:spPr>
          <a:xfrm>
            <a:off x="925285" y="1650996"/>
            <a:ext cx="7274739" cy="5078313"/>
          </a:xfrm>
          <a:prstGeom prst="rect">
            <a:avLst/>
          </a:prstGeom>
          <a:noFill/>
        </p:spPr>
        <p:txBody>
          <a:bodyPr wrap="square">
            <a:spAutoFit/>
          </a:bodyPr>
          <a:lstStyle/>
          <a:p>
            <a:pPr marL="285750" indent="-285750">
              <a:buFont typeface="Arial" panose="020B0604020202020204" pitchFamily="34" charset="0"/>
              <a:buChar char="•"/>
            </a:pPr>
            <a:r>
              <a:rPr lang="en-US" dirty="0"/>
              <a:t>Built a Linear Regression Model to predict hourly machine output</a:t>
            </a:r>
          </a:p>
          <a:p>
            <a:pPr marL="285750" indent="-285750">
              <a:buFont typeface="Arial" panose="020B0604020202020204" pitchFamily="34" charset="0"/>
              <a:buChar char="•"/>
            </a:pPr>
            <a:r>
              <a:rPr lang="en-US" dirty="0"/>
              <a:t>Trained the model using training data (80%) and tested on test data (20%)</a:t>
            </a:r>
          </a:p>
          <a:p>
            <a:pPr marL="285750" indent="-285750">
              <a:buFont typeface="Arial" panose="020B0604020202020204" pitchFamily="34" charset="0"/>
              <a:buChar char="•"/>
            </a:pPr>
            <a:r>
              <a:rPr lang="en-US" dirty="0"/>
              <a:t>Model learned relationships between features like temperature, pressure, and cycle time with the output</a:t>
            </a:r>
          </a:p>
          <a:p>
            <a:pPr marL="285750" indent="-285750">
              <a:buFont typeface="Arial" panose="020B0604020202020204" pitchFamily="34" charset="0"/>
              <a:buChar char="•"/>
            </a:pPr>
            <a:r>
              <a:rPr lang="en-US" dirty="0"/>
              <a:t>Used random state to ensure reproducible results</a:t>
            </a:r>
          </a:p>
          <a:p>
            <a:pPr marL="285750" indent="-285750">
              <a:buFont typeface="Arial" panose="020B0604020202020204" pitchFamily="34" charset="0"/>
              <a:buChar char="•"/>
            </a:pPr>
            <a:r>
              <a:rPr lang="en-US" dirty="0"/>
              <a:t>Made predictions on test data to check accuracy</a:t>
            </a:r>
          </a:p>
          <a:p>
            <a:pPr marL="285750" indent="-285750">
              <a:buFont typeface="Arial" panose="020B0604020202020204" pitchFamily="34" charset="0"/>
              <a:buChar char="•"/>
            </a:pPr>
            <a:endParaRPr lang="en-US" dirty="0"/>
          </a:p>
          <a:p>
            <a:r>
              <a:rPr lang="en-US" dirty="0"/>
              <a:t>     Evaluated performance using:</a:t>
            </a:r>
          </a:p>
          <a:p>
            <a:pPr marL="285750" indent="-285750">
              <a:buFont typeface="Arial" panose="020B0604020202020204" pitchFamily="34" charset="0"/>
              <a:buChar char="•"/>
            </a:pPr>
            <a:r>
              <a:rPr lang="en-US" dirty="0"/>
              <a:t>R² Score (aimed &gt; 0.75)</a:t>
            </a:r>
          </a:p>
          <a:p>
            <a:pPr marL="285750" indent="-285750">
              <a:buFont typeface="Arial" panose="020B0604020202020204" pitchFamily="34" charset="0"/>
              <a:buChar char="•"/>
            </a:pPr>
            <a:r>
              <a:rPr lang="en-US" dirty="0"/>
              <a:t>MSE, RMSE, and MAE for error analysis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Compared predicted vs actual values to validate the model.</a:t>
            </a:r>
          </a:p>
          <a:p>
            <a:pPr marL="285750" indent="-285750">
              <a:buFont typeface="Arial" panose="020B0604020202020204" pitchFamily="34" charset="0"/>
              <a:buChar char="•"/>
            </a:pPr>
            <a:r>
              <a:rPr lang="en-US" dirty="0"/>
              <a:t>Helped identify which machine parameters most affect production efficiency.</a:t>
            </a:r>
          </a:p>
          <a:p>
            <a:pPr marL="285750" indent="-285750">
              <a:buFont typeface="Arial" panose="020B0604020202020204" pitchFamily="34" charset="0"/>
              <a:buChar char="•"/>
            </a:pPr>
            <a:endParaRPr lang="en-US" dirty="0"/>
          </a:p>
          <a:p>
            <a:r>
              <a:rPr lang="en-US" dirty="0"/>
              <a:t>Goal: Build a reliable model to predict output and improve manufacturing  performance</a:t>
            </a:r>
          </a:p>
        </p:txBody>
      </p:sp>
      <p:pic>
        <p:nvPicPr>
          <p:cNvPr id="6" name="Picture 5">
            <a:extLst>
              <a:ext uri="{FF2B5EF4-FFF2-40B4-BE49-F238E27FC236}">
                <a16:creationId xmlns:a16="http://schemas.microsoft.com/office/drawing/2014/main" id="{5DFC78F8-5341-1A5B-F66B-951D372A4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6629" y="1196999"/>
            <a:ext cx="4409680" cy="5497286"/>
          </a:xfrm>
          <a:prstGeom prst="rect">
            <a:avLst/>
          </a:prstGeom>
        </p:spPr>
      </p:pic>
    </p:spTree>
    <p:extLst>
      <p:ext uri="{BB962C8B-B14F-4D97-AF65-F5344CB8AC3E}">
        <p14:creationId xmlns:p14="http://schemas.microsoft.com/office/powerpoint/2010/main" val="388411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61F9-3D54-AE2B-6153-934F631B86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7ADD1F-D45A-8F7D-1C92-108B6142B7D1}"/>
              </a:ext>
            </a:extLst>
          </p:cNvPr>
          <p:cNvSpPr txBox="1"/>
          <p:nvPr/>
        </p:nvSpPr>
        <p:spPr>
          <a:xfrm>
            <a:off x="1132865" y="-190688"/>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615959-485D-C178-225B-384D3709F9D6}"/>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93CA64CA-92DA-B9F0-7C99-6947B7E56F6F}"/>
              </a:ext>
            </a:extLst>
          </p:cNvPr>
          <p:cNvSpPr txBox="1"/>
          <p:nvPr/>
        </p:nvSpPr>
        <p:spPr>
          <a:xfrm>
            <a:off x="641507" y="761497"/>
            <a:ext cx="6579099" cy="618630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Evaluated the Linear Regression model to check its accuracy and reliability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Used key metrics for evaluation: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R² Score → Measures how well the model fits the data (target &gt; 0.75)</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MSE (Mean Squared Error) → Average squared difference between predicted and actual values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RMSE (Root Mean Squared Error) → Shows prediction errors in the same unit as output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MAE (Mean Absolute Error) → Average of absolute prediction errors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Plotted Predicted vs Actual values to visualize model performance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Residual Plots to check for model consistency and identify any bias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Found that the model performs well with high R² and low error values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Ensure the model predicts accurately and can be trusted for real-world </a:t>
            </a:r>
          </a:p>
        </p:txBody>
      </p:sp>
      <p:pic>
        <p:nvPicPr>
          <p:cNvPr id="6" name="Picture 5">
            <a:extLst>
              <a:ext uri="{FF2B5EF4-FFF2-40B4-BE49-F238E27FC236}">
                <a16:creationId xmlns:a16="http://schemas.microsoft.com/office/drawing/2014/main" id="{B15E46B8-E0DC-5216-B92C-8CC075588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8549" y="2361934"/>
            <a:ext cx="4697327" cy="2985433"/>
          </a:xfrm>
          <a:prstGeom prst="rect">
            <a:avLst/>
          </a:prstGeom>
        </p:spPr>
      </p:pic>
    </p:spTree>
    <p:extLst>
      <p:ext uri="{BB962C8B-B14F-4D97-AF65-F5344CB8AC3E}">
        <p14:creationId xmlns:p14="http://schemas.microsoft.com/office/powerpoint/2010/main" val="898477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5859-3F4C-D8DD-CE15-FCD60E9FE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7834B0-F418-3C39-D0AB-556B1B3F258C}"/>
              </a:ext>
            </a:extLst>
          </p:cNvPr>
          <p:cNvSpPr txBox="1"/>
          <p:nvPr/>
        </p:nvSpPr>
        <p:spPr>
          <a:xfrm>
            <a:off x="925286" y="566057"/>
            <a:ext cx="10417628" cy="1877437"/>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9176574-2FD3-0181-FFC0-5C16D394C2C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E9B7EE57-76B2-DE36-0858-F91D75FD2A13}"/>
              </a:ext>
            </a:extLst>
          </p:cNvPr>
          <p:cNvSpPr txBox="1"/>
          <p:nvPr/>
        </p:nvSpPr>
        <p:spPr>
          <a:xfrm>
            <a:off x="791497" y="2094271"/>
            <a:ext cx="10607953" cy="3756453"/>
          </a:xfrm>
          <a:prstGeom prst="rect">
            <a:avLst/>
          </a:prstGeom>
          <a:noFill/>
        </p:spPr>
        <p:txBody>
          <a:bodyPr wrap="square">
            <a:no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Deployed the trained model using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 simple and interactive web framework</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Created a user-friendly interface to input parameters like Temperature, Pressure, and Cycle Time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app displays the predicted machine output instantly based on the inputs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and preprocessing components were saved using Pickle for easy loading</a:t>
            </a:r>
          </a:p>
          <a:p>
            <a:pPr marL="342900" indent="-34290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app runs locally or can be hosted for production use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manufacturing teams to test and optimize settings in real time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deployment makes the machine learning model practical and easy to use, even for non-technical users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bridges the gap between data analysis and real-world application, helping teams make faster, data-driven decisions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Goal: Make the predictive model accessible and usable through a web interface</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12861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7276B-7403-D6BF-BDC9-81D05DFAB6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1B00D06-E932-698E-B796-8859F09915BB}"/>
              </a:ext>
            </a:extLst>
          </p:cNvPr>
          <p:cNvSpPr txBox="1"/>
          <p:nvPr/>
        </p:nvSpPr>
        <p:spPr>
          <a:xfrm>
            <a:off x="925286" y="566057"/>
            <a:ext cx="10417628" cy="984885"/>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Docker Deployment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84EAA8C-D5AA-D224-6B52-AB87AD5C37A0}"/>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4CE296BC-1F3F-0341-CDB2-FD1FCF537B33}"/>
              </a:ext>
            </a:extLst>
          </p:cNvPr>
          <p:cNvSpPr txBox="1"/>
          <p:nvPr/>
        </p:nvSpPr>
        <p:spPr>
          <a:xfrm>
            <a:off x="457200" y="1360714"/>
            <a:ext cx="7130893" cy="4345157"/>
          </a:xfrm>
          <a:prstGeom prst="rect">
            <a:avLst/>
          </a:prstGeom>
          <a:noFill/>
        </p:spPr>
        <p:txBody>
          <a:bodyPr wrap="square">
            <a:noAutofit/>
          </a:bodyPr>
          <a:lstStyle/>
          <a:p>
            <a:pPr marL="342900" indent="-342900">
              <a:buFont typeface="Arial" panose="020B0604020202020204" pitchFamily="34" charset="0"/>
              <a:buChar char="•"/>
            </a:pPr>
            <a:r>
              <a:rPr lang="en-US" sz="2000" dirty="0"/>
              <a:t>Used Docker to containerize the </a:t>
            </a:r>
            <a:r>
              <a:rPr lang="en-US" sz="2000" dirty="0" err="1"/>
              <a:t>Streamlit</a:t>
            </a:r>
            <a:r>
              <a:rPr lang="en-US" sz="2000" dirty="0"/>
              <a:t> app for easy deployment</a:t>
            </a:r>
          </a:p>
          <a:p>
            <a:pPr marL="342900" indent="-342900">
              <a:buFont typeface="Arial" panose="020B0604020202020204" pitchFamily="34" charset="0"/>
              <a:buChar char="•"/>
            </a:pPr>
            <a:r>
              <a:rPr lang="en-US" sz="2000" dirty="0"/>
              <a:t>A </a:t>
            </a:r>
            <a:r>
              <a:rPr lang="en-US" sz="2000" dirty="0" err="1"/>
              <a:t>Dockerfile</a:t>
            </a:r>
            <a:r>
              <a:rPr lang="en-US" sz="2000" dirty="0"/>
              <a:t> was created with all required dependencies and setup instructions</a:t>
            </a:r>
          </a:p>
          <a:p>
            <a:pPr marL="342900" indent="-342900">
              <a:buFont typeface="Arial" panose="020B0604020202020204" pitchFamily="34" charset="0"/>
              <a:buChar char="•"/>
            </a:pPr>
            <a:r>
              <a:rPr lang="en-US" sz="2000" dirty="0"/>
              <a:t>This allows the entire project (model + app) to run the same way on any system</a:t>
            </a:r>
          </a:p>
          <a:p>
            <a:pPr marL="342900" indent="-342900">
              <a:buFont typeface="Arial" panose="020B0604020202020204" pitchFamily="34" charset="0"/>
              <a:buChar char="•"/>
            </a:pPr>
            <a:r>
              <a:rPr lang="en-US" sz="2000" dirty="0"/>
              <a:t>Used docker-compose to manage multiple services if needed</a:t>
            </a:r>
          </a:p>
          <a:p>
            <a:pPr marL="342900" indent="-342900">
              <a:buFont typeface="Arial" panose="020B0604020202020204" pitchFamily="34" charset="0"/>
              <a:buChar char="•"/>
            </a:pPr>
            <a:r>
              <a:rPr lang="en-US" sz="2000" dirty="0"/>
              <a:t>Added a .</a:t>
            </a:r>
            <a:r>
              <a:rPr lang="en-US" sz="2000" dirty="0" err="1"/>
              <a:t>dockerignore</a:t>
            </a:r>
            <a:r>
              <a:rPr lang="en-US" sz="2000" dirty="0"/>
              <a:t> file to skip unnecessary files and improve efficiency</a:t>
            </a:r>
          </a:p>
          <a:p>
            <a:pPr marL="342900" indent="-342900">
              <a:buFont typeface="Arial" panose="020B0604020202020204" pitchFamily="34" charset="0"/>
              <a:buChar char="•"/>
            </a:pPr>
            <a:r>
              <a:rPr lang="en-US" sz="2000" dirty="0"/>
              <a:t>Docker ensures the app is portable, scalable, and easy to maintain in real-world environments</a:t>
            </a:r>
          </a:p>
          <a:p>
            <a:pPr marL="342900" indent="-342900">
              <a:buFont typeface="Arial" panose="020B0604020202020204" pitchFamily="34" charset="0"/>
              <a:buChar char="•"/>
            </a:pPr>
            <a:r>
              <a:rPr lang="en-US" sz="2000" dirty="0"/>
              <a:t>It simplifies sharing, testing, and updating the application without compatibility issues</a:t>
            </a:r>
          </a:p>
          <a:p>
            <a:pPr marL="342900" indent="-342900">
              <a:buFont typeface="Arial" panose="020B0604020202020204" pitchFamily="34" charset="0"/>
              <a:buChar char="•"/>
            </a:pPr>
            <a:r>
              <a:rPr lang="en-US" sz="2000" dirty="0"/>
              <a:t>Overall, Docker makes the project fully production-ready and efficient for real-world manufacturing use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Goal: Make deployment smooth, consistent, and ready for production use</a:t>
            </a:r>
          </a:p>
        </p:txBody>
      </p:sp>
      <p:pic>
        <p:nvPicPr>
          <p:cNvPr id="6" name="Picture 5">
            <a:extLst>
              <a:ext uri="{FF2B5EF4-FFF2-40B4-BE49-F238E27FC236}">
                <a16:creationId xmlns:a16="http://schemas.microsoft.com/office/drawing/2014/main" id="{55E8EF7F-5878-DF73-C866-D0B6B9567D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8165" y="2342176"/>
            <a:ext cx="4135821" cy="2687884"/>
          </a:xfrm>
          <a:prstGeom prst="rect">
            <a:avLst/>
          </a:prstGeom>
        </p:spPr>
      </p:pic>
    </p:spTree>
    <p:extLst>
      <p:ext uri="{BB962C8B-B14F-4D97-AF65-F5344CB8AC3E}">
        <p14:creationId xmlns:p14="http://schemas.microsoft.com/office/powerpoint/2010/main" val="3778018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DC14-24A4-83A3-80F3-7EB7CF454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A9192C-DD60-DC37-1D2D-65A5FB6C01AE}"/>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C266F1F-149E-98DD-8A5C-0CEFFD4D521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4" name="TextBox 3">
            <a:extLst>
              <a:ext uri="{FF2B5EF4-FFF2-40B4-BE49-F238E27FC236}">
                <a16:creationId xmlns:a16="http://schemas.microsoft.com/office/drawing/2014/main" id="{5C999546-988E-C976-23CD-10AA17A2A25D}"/>
              </a:ext>
            </a:extLst>
          </p:cNvPr>
          <p:cNvSpPr txBox="1"/>
          <p:nvPr/>
        </p:nvSpPr>
        <p:spPr>
          <a:xfrm>
            <a:off x="925286" y="1854434"/>
            <a:ext cx="8222401" cy="3175626"/>
          </a:xfrm>
          <a:prstGeom prst="rect">
            <a:avLst/>
          </a:prstGeom>
          <a:noFill/>
        </p:spPr>
        <p:txBody>
          <a:bodyPr wrap="square">
            <a:noAutofit/>
          </a:bodyPr>
          <a:lstStyle/>
          <a:p>
            <a:pPr marL="285750" indent="-285750">
              <a:buFont typeface="Arial" panose="020B0604020202020204" pitchFamily="34" charset="0"/>
              <a:buChar char="•"/>
            </a:pPr>
            <a:r>
              <a:rPr lang="en-US" dirty="0"/>
              <a:t>The project successfully built a Linear Regression model to predict machine output based on key manufacturing parameters</a:t>
            </a:r>
          </a:p>
          <a:p>
            <a:pPr marL="285750" indent="-285750">
              <a:buFont typeface="Arial" panose="020B0604020202020204" pitchFamily="34" charset="0"/>
              <a:buChar char="•"/>
            </a:pPr>
            <a:r>
              <a:rPr lang="en-US" dirty="0"/>
              <a:t>Through data processing and feature engineering, the dataset was cleaned, refined, and made ready for modeling</a:t>
            </a:r>
          </a:p>
          <a:p>
            <a:pPr marL="285750" indent="-285750">
              <a:buFont typeface="Arial" panose="020B0604020202020204" pitchFamily="34" charset="0"/>
              <a:buChar char="•"/>
            </a:pPr>
            <a:r>
              <a:rPr lang="en-US" dirty="0"/>
              <a:t>The model achieved strong accuracy (R² &gt; 0.75), proving its reliability in predicting production performance</a:t>
            </a:r>
          </a:p>
          <a:p>
            <a:pPr marL="285750" indent="-285750">
              <a:buFont typeface="Arial" panose="020B0604020202020204" pitchFamily="34" charset="0"/>
              <a:buChar char="•"/>
            </a:pPr>
            <a:r>
              <a:rPr lang="en-US" dirty="0" err="1"/>
              <a:t>Streamlit</a:t>
            </a:r>
            <a:r>
              <a:rPr lang="en-US" dirty="0"/>
              <a:t> deployment made the model interactive and easy for users to test in real time</a:t>
            </a:r>
          </a:p>
          <a:p>
            <a:pPr marL="285750" indent="-285750">
              <a:buFont typeface="Arial" panose="020B0604020202020204" pitchFamily="34" charset="0"/>
              <a:buChar char="•"/>
            </a:pPr>
            <a:r>
              <a:rPr lang="en-US" dirty="0"/>
              <a:t>Docker deployment ensured smooth, consistent performance across different systems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Overall, the project combined data science, automation, and business insights to help manufacturers optimize efficiency, reduce downtime, and make data-driven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 complete end-to-end solution — from data to deployment — for smarter manufacturing</a:t>
            </a:r>
          </a:p>
        </p:txBody>
      </p:sp>
    </p:spTree>
    <p:extLst>
      <p:ext uri="{BB962C8B-B14F-4D97-AF65-F5344CB8AC3E}">
        <p14:creationId xmlns:p14="http://schemas.microsoft.com/office/powerpoint/2010/main" val="857615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4D34-C2E1-C9C0-E176-2E6A147A37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A228EE-FED1-835D-6A31-D4A60C3188B4}"/>
              </a:ext>
            </a:extLst>
          </p:cNvPr>
          <p:cNvSpPr txBox="1"/>
          <p:nvPr/>
        </p:nvSpPr>
        <p:spPr>
          <a:xfrm>
            <a:off x="1023257" y="2490281"/>
            <a:ext cx="10384971" cy="1877437"/>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pPr algn="ctr"/>
            <a:r>
              <a:rPr lang="en-IN" sz="8000" dirty="0">
                <a:solidFill>
                  <a:schemeClr val="accent1">
                    <a:lumMod val="75000"/>
                  </a:schemeClr>
                </a:solidFill>
                <a:latin typeface="Times New Roman" panose="02020603050405020304" pitchFamily="18" charset="0"/>
                <a:cs typeface="Times New Roman" panose="02020603050405020304" pitchFamily="18" charset="0"/>
              </a:rPr>
              <a:t>Any Queries ???</a:t>
            </a:r>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D9250A-B516-92CD-8809-B1DD666EA915}"/>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965714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1164</Words>
  <Application>Microsoft Office PowerPoint</Application>
  <PresentationFormat>Widescreen</PresentationFormat>
  <Paragraphs>167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Anantason Bold</vt:lpstr>
      <vt:lpstr>Arial</vt:lpstr>
      <vt:lpstr>Calibri</vt:lpstr>
      <vt:lpstr>Calibri Light</vt:lpstr>
      <vt:lpstr>Times New Roman</vt:lpstr>
      <vt:lpstr>Wingdings</vt:lpstr>
      <vt:lpstr>Office Theme</vt:lpstr>
      <vt:lpstr>     Capstone Project1  MANUFACTURING  EQUIPMENT  OUTPUT PREDICTION  WITH  LINEAR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TNS INDIA FOUNDATION</dc:creator>
  <cp:lastModifiedBy>Keerthana Priya S</cp:lastModifiedBy>
  <cp:revision>7</cp:revision>
  <dcterms:created xsi:type="dcterms:W3CDTF">2025-09-02T04:26:51Z</dcterms:created>
  <dcterms:modified xsi:type="dcterms:W3CDTF">2025-11-07T11:17:04Z</dcterms:modified>
</cp:coreProperties>
</file>