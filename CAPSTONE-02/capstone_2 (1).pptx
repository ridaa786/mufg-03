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71" r:id="rId12"/>
    <p:sldId id="265" r:id="rId13"/>
    <p:sldId id="270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F89F1-76B8-4382-9073-E7815BF520AD}" v="12" dt="2025-11-05T14:10:48.7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a Afnar" userId="80a3b66d252f2de3" providerId="LiveId" clId="{05BDE79D-775E-401F-9B06-3E9967D2A335}"/>
    <pc:docChg chg="undo custSel modSld">
      <pc:chgData name="Rida Afnar" userId="80a3b66d252f2de3" providerId="LiveId" clId="{05BDE79D-775E-401F-9B06-3E9967D2A335}" dt="2025-11-05T14:11:34.216" v="233" actId="5793"/>
      <pc:docMkLst>
        <pc:docMk/>
      </pc:docMkLst>
      <pc:sldChg chg="addSp delSp modSp mod">
        <pc:chgData name="Rida Afnar" userId="80a3b66d252f2de3" providerId="LiveId" clId="{05BDE79D-775E-401F-9B06-3E9967D2A335}" dt="2025-11-05T14:01:30.946" v="178" actId="20577"/>
        <pc:sldMkLst>
          <pc:docMk/>
          <pc:sldMk cId="3806707783" sldId="260"/>
        </pc:sldMkLst>
        <pc:spChg chg="mod">
          <ac:chgData name="Rida Afnar" userId="80a3b66d252f2de3" providerId="LiveId" clId="{05BDE79D-775E-401F-9B06-3E9967D2A335}" dt="2025-11-05T13:49:32.477" v="65" actId="1076"/>
          <ac:spMkLst>
            <pc:docMk/>
            <pc:sldMk cId="3806707783" sldId="260"/>
            <ac:spMk id="3" creationId="{990CCCB6-6C9B-7069-B978-56BBBC586087}"/>
          </ac:spMkLst>
        </pc:spChg>
        <pc:graphicFrameChg chg="add mod modGraphic">
          <ac:chgData name="Rida Afnar" userId="80a3b66d252f2de3" providerId="LiveId" clId="{05BDE79D-775E-401F-9B06-3E9967D2A335}" dt="2025-11-05T14:01:30.946" v="178" actId="20577"/>
          <ac:graphicFrameMkLst>
            <pc:docMk/>
            <pc:sldMk cId="3806707783" sldId="260"/>
            <ac:graphicFrameMk id="4" creationId="{86CC317C-B6BF-9F9A-8668-85349A77F16A}"/>
          </ac:graphicFrameMkLst>
        </pc:graphicFrameChg>
        <pc:picChg chg="del">
          <ac:chgData name="Rida Afnar" userId="80a3b66d252f2de3" providerId="LiveId" clId="{05BDE79D-775E-401F-9B06-3E9967D2A335}" dt="2025-11-05T13:43:25.163" v="28" actId="478"/>
          <ac:picMkLst>
            <pc:docMk/>
            <pc:sldMk cId="3806707783" sldId="260"/>
            <ac:picMk id="6" creationId="{9237ACB5-09EA-2033-7D97-0E04D11B4C72}"/>
          </ac:picMkLst>
        </pc:picChg>
        <pc:picChg chg="del">
          <ac:chgData name="Rida Afnar" userId="80a3b66d252f2de3" providerId="LiveId" clId="{05BDE79D-775E-401F-9B06-3E9967D2A335}" dt="2025-11-05T13:15:58.869" v="0" actId="478"/>
          <ac:picMkLst>
            <pc:docMk/>
            <pc:sldMk cId="3806707783" sldId="260"/>
            <ac:picMk id="8" creationId="{E0747A61-90C6-9E3A-28B1-F561DCF60059}"/>
          </ac:picMkLst>
        </pc:picChg>
      </pc:sldChg>
      <pc:sldChg chg="modSp mod">
        <pc:chgData name="Rida Afnar" userId="80a3b66d252f2de3" providerId="LiveId" clId="{05BDE79D-775E-401F-9B06-3E9967D2A335}" dt="2025-11-05T14:01:48.398" v="179" actId="1076"/>
        <pc:sldMkLst>
          <pc:docMk/>
          <pc:sldMk cId="291324891" sldId="261"/>
        </pc:sldMkLst>
        <pc:spChg chg="mod">
          <ac:chgData name="Rida Afnar" userId="80a3b66d252f2de3" providerId="LiveId" clId="{05BDE79D-775E-401F-9B06-3E9967D2A335}" dt="2025-11-05T14:01:48.398" v="179" actId="1076"/>
          <ac:spMkLst>
            <pc:docMk/>
            <pc:sldMk cId="291324891" sldId="261"/>
            <ac:spMk id="3" creationId="{838D4610-B473-2DAC-E795-881F1E7BAF55}"/>
          </ac:spMkLst>
        </pc:spChg>
        <pc:picChg chg="mod">
          <ac:chgData name="Rida Afnar" userId="80a3b66d252f2de3" providerId="LiveId" clId="{05BDE79D-775E-401F-9B06-3E9967D2A335}" dt="2025-11-05T13:48:19.282" v="60" actId="14100"/>
          <ac:picMkLst>
            <pc:docMk/>
            <pc:sldMk cId="291324891" sldId="261"/>
            <ac:picMk id="11" creationId="{31BC1771-A7C4-3633-EDB5-9BB5EAE9AF20}"/>
          </ac:picMkLst>
        </pc:picChg>
      </pc:sldChg>
      <pc:sldChg chg="modSp mod">
        <pc:chgData name="Rida Afnar" userId="80a3b66d252f2de3" providerId="LiveId" clId="{05BDE79D-775E-401F-9B06-3E9967D2A335}" dt="2025-11-05T14:02:58.279" v="186" actId="1076"/>
        <pc:sldMkLst>
          <pc:docMk/>
          <pc:sldMk cId="787646498" sldId="262"/>
        </pc:sldMkLst>
        <pc:spChg chg="mod">
          <ac:chgData name="Rida Afnar" userId="80a3b66d252f2de3" providerId="LiveId" clId="{05BDE79D-775E-401F-9B06-3E9967D2A335}" dt="2025-11-05T14:02:51.540" v="185" actId="1076"/>
          <ac:spMkLst>
            <pc:docMk/>
            <pc:sldMk cId="787646498" sldId="262"/>
            <ac:spMk id="3" creationId="{3ED5CD7C-EC5A-D457-389F-1CF060C9F1F1}"/>
          </ac:spMkLst>
        </pc:spChg>
        <pc:spChg chg="mod">
          <ac:chgData name="Rida Afnar" userId="80a3b66d252f2de3" providerId="LiveId" clId="{05BDE79D-775E-401F-9B06-3E9967D2A335}" dt="2025-11-05T14:02:58.279" v="186" actId="1076"/>
          <ac:spMkLst>
            <pc:docMk/>
            <pc:sldMk cId="787646498" sldId="262"/>
            <ac:spMk id="5" creationId="{EE93F408-C014-7315-2453-24243AE17923}"/>
          </ac:spMkLst>
        </pc:spChg>
      </pc:sldChg>
      <pc:sldChg chg="modSp mod">
        <pc:chgData name="Rida Afnar" userId="80a3b66d252f2de3" providerId="LiveId" clId="{05BDE79D-775E-401F-9B06-3E9967D2A335}" dt="2025-11-05T14:05:15.943" v="193" actId="1076"/>
        <pc:sldMkLst>
          <pc:docMk/>
          <pc:sldMk cId="225704641" sldId="263"/>
        </pc:sldMkLst>
        <pc:spChg chg="mod">
          <ac:chgData name="Rida Afnar" userId="80a3b66d252f2de3" providerId="LiveId" clId="{05BDE79D-775E-401F-9B06-3E9967D2A335}" dt="2025-11-05T14:05:15.943" v="193" actId="1076"/>
          <ac:spMkLst>
            <pc:docMk/>
            <pc:sldMk cId="225704641" sldId="263"/>
            <ac:spMk id="3" creationId="{00000000-0000-0000-0000-000000000000}"/>
          </ac:spMkLst>
        </pc:spChg>
      </pc:sldChg>
      <pc:sldChg chg="modSp mod">
        <pc:chgData name="Rida Afnar" userId="80a3b66d252f2de3" providerId="LiveId" clId="{05BDE79D-775E-401F-9B06-3E9967D2A335}" dt="2025-11-05T14:05:34.872" v="196" actId="1076"/>
        <pc:sldMkLst>
          <pc:docMk/>
          <pc:sldMk cId="3884115179" sldId="264"/>
        </pc:sldMkLst>
        <pc:spChg chg="mod">
          <ac:chgData name="Rida Afnar" userId="80a3b66d252f2de3" providerId="LiveId" clId="{05BDE79D-775E-401F-9B06-3E9967D2A335}" dt="2025-11-05T14:05:34.872" v="196" actId="1076"/>
          <ac:spMkLst>
            <pc:docMk/>
            <pc:sldMk cId="3884115179" sldId="264"/>
            <ac:spMk id="4" creationId="{00000000-0000-0000-0000-000000000000}"/>
          </ac:spMkLst>
        </pc:spChg>
      </pc:sldChg>
      <pc:sldChg chg="modSp mod">
        <pc:chgData name="Rida Afnar" userId="80a3b66d252f2de3" providerId="LiveId" clId="{05BDE79D-775E-401F-9B06-3E9967D2A335}" dt="2025-11-05T14:06:14.838" v="199" actId="12"/>
        <pc:sldMkLst>
          <pc:docMk/>
          <pc:sldMk cId="898477252" sldId="265"/>
        </pc:sldMkLst>
        <pc:spChg chg="mod">
          <ac:chgData name="Rida Afnar" userId="80a3b66d252f2de3" providerId="LiveId" clId="{05BDE79D-775E-401F-9B06-3E9967D2A335}" dt="2025-11-05T14:06:14.838" v="199" actId="12"/>
          <ac:spMkLst>
            <pc:docMk/>
            <pc:sldMk cId="898477252" sldId="265"/>
            <ac:spMk id="3" creationId="{00000000-0000-0000-0000-000000000000}"/>
          </ac:spMkLst>
        </pc:spChg>
      </pc:sldChg>
      <pc:sldChg chg="modSp mod">
        <pc:chgData name="Rida Afnar" userId="80a3b66d252f2de3" providerId="LiveId" clId="{05BDE79D-775E-401F-9B06-3E9967D2A335}" dt="2025-11-05T14:10:54.013" v="222" actId="14100"/>
        <pc:sldMkLst>
          <pc:docMk/>
          <pc:sldMk cId="128614671" sldId="266"/>
        </pc:sldMkLst>
        <pc:spChg chg="mod">
          <ac:chgData name="Rida Afnar" userId="80a3b66d252f2de3" providerId="LiveId" clId="{05BDE79D-775E-401F-9B06-3E9967D2A335}" dt="2025-11-05T14:08:25.516" v="211"/>
          <ac:spMkLst>
            <pc:docMk/>
            <pc:sldMk cId="128614671" sldId="266"/>
            <ac:spMk id="5" creationId="{BF7834B0-F418-3C39-D0AB-556B1B3F258C}"/>
          </ac:spMkLst>
        </pc:spChg>
        <pc:spChg chg="mod">
          <ac:chgData name="Rida Afnar" userId="80a3b66d252f2de3" providerId="LiveId" clId="{05BDE79D-775E-401F-9B06-3E9967D2A335}" dt="2025-11-05T14:10:48.793" v="221" actId="1076"/>
          <ac:spMkLst>
            <pc:docMk/>
            <pc:sldMk cId="128614671" sldId="266"/>
            <ac:spMk id="7" creationId="{00000000-0000-0000-0000-000000000000}"/>
          </ac:spMkLst>
        </pc:spChg>
        <pc:picChg chg="mod">
          <ac:chgData name="Rida Afnar" userId="80a3b66d252f2de3" providerId="LiveId" clId="{05BDE79D-775E-401F-9B06-3E9967D2A335}" dt="2025-11-05T14:10:54.013" v="222" actId="14100"/>
          <ac:picMkLst>
            <pc:docMk/>
            <pc:sldMk cId="128614671" sldId="266"/>
            <ac:picMk id="3" creationId="{00000000-0000-0000-0000-000000000000}"/>
          </ac:picMkLst>
        </pc:picChg>
      </pc:sldChg>
      <pc:sldChg chg="modSp mod">
        <pc:chgData name="Rida Afnar" userId="80a3b66d252f2de3" providerId="LiveId" clId="{05BDE79D-775E-401F-9B06-3E9967D2A335}" dt="2025-11-05T14:09:50.580" v="216" actId="1076"/>
        <pc:sldMkLst>
          <pc:docMk/>
          <pc:sldMk cId="3778018911" sldId="267"/>
        </pc:sldMkLst>
        <pc:spChg chg="mod">
          <ac:chgData name="Rida Afnar" userId="80a3b66d252f2de3" providerId="LiveId" clId="{05BDE79D-775E-401F-9B06-3E9967D2A335}" dt="2025-11-05T14:09:50.580" v="216" actId="1076"/>
          <ac:spMkLst>
            <pc:docMk/>
            <pc:sldMk cId="3778018911" sldId="267"/>
            <ac:spMk id="3" creationId="{00000000-0000-0000-0000-000000000000}"/>
          </ac:spMkLst>
        </pc:spChg>
      </pc:sldChg>
      <pc:sldChg chg="modSp mod">
        <pc:chgData name="Rida Afnar" userId="80a3b66d252f2de3" providerId="LiveId" clId="{05BDE79D-775E-401F-9B06-3E9967D2A335}" dt="2025-11-05T14:11:34.216" v="233" actId="5793"/>
        <pc:sldMkLst>
          <pc:docMk/>
          <pc:sldMk cId="857615339" sldId="268"/>
        </pc:sldMkLst>
        <pc:spChg chg="mod">
          <ac:chgData name="Rida Afnar" userId="80a3b66d252f2de3" providerId="LiveId" clId="{05BDE79D-775E-401F-9B06-3E9967D2A335}" dt="2025-11-05T14:11:34.216" v="233" actId="5793"/>
          <ac:spMkLst>
            <pc:docMk/>
            <pc:sldMk cId="857615339" sldId="26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09A77-C147-B1FD-9139-EB477AE9E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BA19F-0083-1537-7C08-A7B801910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50F3E-70C8-A1C4-780D-DDE7F281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E0DE3-9265-B96A-8815-DE4835993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751EB-682B-99D5-DA14-E60C3C0A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31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41E3-8037-BE6F-B4A6-E4AB74EF8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8E225-010E-9DA0-5068-EF2FDE4BB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C5DE6-FACD-C94A-C67C-4F337279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A9AF5-A13F-F886-06FA-642B57661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1A9BC-F27B-3E53-939A-56320E5C5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42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CB12-4B71-1B8C-157D-A08C82D6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4F063-D2D2-E105-A3B7-01584DD6C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3032D-B4B8-4443-74CA-67A9BD194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3E9BF-FF3F-E542-5D96-3B0C09B1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B6A5A-91F8-A719-8F8B-4FE27B8CC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491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9050-05BA-7DCC-C39A-DADD06EA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7671E-44E3-2F08-1351-9C6F00D02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8C00F-96DA-0446-68FF-ED9743603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73387-363F-10E0-74F1-73AA39F4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50D7A-4C6A-5C34-6F4E-EA32BBA8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BB4A7-2563-030C-7382-77A591B2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38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5F14-BFAE-2884-D8ED-B9A1084E3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3364A-20D8-809B-09A1-C795CABE0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0A4D6-7230-3EDF-6116-7C38F0DE0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9A00F-F31C-00D6-744B-C8BE28FA9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20348-330B-C957-4621-698C7F667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0C0B5-CF6A-D09B-6FC4-341C29CC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BB677E-2EDC-D67B-965B-13E43B34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102C4D-0725-2168-A8D1-EB4B42BC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95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A779-C0F8-6C60-F2F8-9DCE9219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F66D3-8187-7C65-BA62-FAE7B163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47678-40F1-EFBF-1C71-A7A154542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FFA58E-669B-7F79-7B54-7FAE8499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0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DF934-12F7-97E9-7DB0-6E41F5F0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0BF61-B1D3-B818-3766-3A576D04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7C1CE-5369-E3F3-4DC6-551292B7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35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E6C33-FB1A-5898-4598-CAD44AA2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3720A-DC75-A0EB-1D78-D3EAEFDCD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DF845-1430-5890-AF76-C2330BECB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85CC5-2E09-A7DE-798B-C4E4E3EC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95BBA-E803-C778-97E4-011316C70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BBFA0-1334-BA7E-6156-3A7CA53B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8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0B11-2D62-B2E6-D640-19F1FC3A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2CAB0D-F8FA-839C-CC4F-55DD4BAF3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93718-A932-F370-6181-75A272F5B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06EBB-ED6C-D9F9-7326-60C43DFF6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6B0BD-2F76-7FE9-9400-17670797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96AA4-C81C-744B-DAA3-7CD69DC6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536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3428-02E5-4908-BCC7-84B133D0F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CC2CC-6EAF-B25A-B38C-2A090E9B0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56641-3EAF-97BB-A494-B0FCFB85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3B72D-E111-52F6-6D73-B32E32E0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8005E-481A-85BA-C998-22676C4D2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18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241D97-28E8-9CD1-9CF8-99D1DE81B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AD63C-27FB-ADA2-4B93-78716C6D1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B263C-3687-6024-3C83-5B74203D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F7E9-248A-526B-B15E-6F04D6DB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CCC18-39D6-152F-88FE-0CAF7390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7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E4823-32C6-7967-7053-331734FF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55076-9E0C-8358-1357-67060CF94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856AD-F11E-3678-EF5D-91E665F1C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79106-F635-453E-8BA0-E6B668AF8050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9D20A-5A27-0BD5-E9C9-75DBD442E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85303-2260-B5AB-F87B-69EDC90F2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96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6A89-72E0-CD64-0D89-F587402ACA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4487"/>
            <a:ext cx="9144000" cy="1654627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r>
              <a:rPr lang="en-US" sz="44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  <a:t>Capstone Project 2 </a:t>
            </a:r>
            <a:br>
              <a:rPr lang="en-US" sz="44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</a:br>
            <a:r>
              <a:rPr lang="en-US" sz="40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  <a:t>HEART DISEASE DETECTION</a:t>
            </a:r>
            <a:r>
              <a:rPr lang="en-US" sz="4000" b="1" dirty="0"/>
              <a:t> </a:t>
            </a:r>
            <a:br>
              <a:rPr lang="en-US" sz="14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FCD4F-364D-74AE-4D1A-A3A2E5DC4AED}"/>
              </a:ext>
            </a:extLst>
          </p:cNvPr>
          <p:cNvSpPr txBox="1"/>
          <p:nvPr/>
        </p:nvSpPr>
        <p:spPr>
          <a:xfrm>
            <a:off x="7036904" y="4225385"/>
            <a:ext cx="461080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T120100319: Keerthanapriya S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T120100328: Rida Afnar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T120100329: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Rukhaiya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Raheem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T120100332: Sinchana H S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T120100336: Nailah Fathima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T120100337: Sameen Mehnaz Fathima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254B8B-72EC-ABF6-5764-F09EC47A1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99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F4FF4-00BA-A1C5-E0CC-38FA5B53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1916FD-ED1C-0F78-2F73-11D99106FDA9}"/>
              </a:ext>
            </a:extLst>
          </p:cNvPr>
          <p:cNvSpPr txBox="1"/>
          <p:nvPr/>
        </p:nvSpPr>
        <p:spPr>
          <a:xfrm>
            <a:off x="925286" y="566057"/>
            <a:ext cx="1041762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&amp; Loading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&amp;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Performance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 API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4F2C56-1EF1-7471-9A81-2F481FC85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C7E26-275E-FD8A-6700-CDFB83B7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EA81C3-AF1D-1FF4-FB6B-3C7CE9321376}"/>
              </a:ext>
            </a:extLst>
          </p:cNvPr>
          <p:cNvSpPr txBox="1"/>
          <p:nvPr/>
        </p:nvSpPr>
        <p:spPr>
          <a:xfrm>
            <a:off x="925286" y="566057"/>
            <a:ext cx="104176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151BB3-6F53-C93A-8ACC-EB2AFC12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60CBE2-3360-1D20-04A4-83670338CF4A}"/>
              </a:ext>
            </a:extLst>
          </p:cNvPr>
          <p:cNvSpPr txBox="1"/>
          <p:nvPr/>
        </p:nvSpPr>
        <p:spPr>
          <a:xfrm>
            <a:off x="925286" y="2089198"/>
            <a:ext cx="105080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project aims to predict whether a person has heart disease based on clinical test data such as blood pressure, cholesterol, ECG results, and exercise performance.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The goal is to help healthcare professionals with </a:t>
            </a:r>
            <a:r>
              <a:rPr lang="en-US" sz="2400" b="1" dirty="0"/>
              <a:t>early detection and decision support</a:t>
            </a:r>
            <a:r>
              <a:rPr lang="en-US" sz="2400" dirty="0"/>
              <a:t> using machine 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569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40222-4B3F-8348-FF0E-2F10D5B4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E0FF65-D2D1-64FB-1F01-1A07C63DDF2A}"/>
              </a:ext>
            </a:extLst>
          </p:cNvPr>
          <p:cNvSpPr txBox="1"/>
          <p:nvPr/>
        </p:nvSpPr>
        <p:spPr>
          <a:xfrm>
            <a:off x="925286" y="566057"/>
            <a:ext cx="104176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C55AB4-477C-5915-6F5B-EDB076153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305CA6-1617-7200-8B3C-116DAFD5E4E4}"/>
              </a:ext>
            </a:extLst>
          </p:cNvPr>
          <p:cNvSpPr txBox="1"/>
          <p:nvPr/>
        </p:nvSpPr>
        <p:spPr>
          <a:xfrm>
            <a:off x="925286" y="1827941"/>
            <a:ext cx="804974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Domain</a:t>
            </a:r>
            <a:r>
              <a:rPr lang="en-US" sz="2400" dirty="0"/>
              <a:t>: Healthcare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Type</a:t>
            </a:r>
            <a:r>
              <a:rPr lang="en-US" sz="2400" dirty="0"/>
              <a:t>: Classification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Input</a:t>
            </a:r>
            <a:r>
              <a:rPr lang="en-US" sz="2400" dirty="0"/>
              <a:t>: Clinical test results (e.g., blood pressure, cholesterol,          ECG,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Output</a:t>
            </a:r>
            <a:r>
              <a:rPr lang="en-US" sz="2400" dirty="0"/>
              <a:t>: Presence(1) or absence(0) of heart disease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Approach</a:t>
            </a:r>
            <a:r>
              <a:rPr lang="en-US" sz="2400" dirty="0"/>
              <a:t>: Compare multiple ML models to identify the best performing one for medical prediction.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FEF04-94DF-C091-E1B2-8ED65946E220}"/>
              </a:ext>
            </a:extLst>
          </p:cNvPr>
          <p:cNvSpPr txBox="1"/>
          <p:nvPr/>
        </p:nvSpPr>
        <p:spPr>
          <a:xfrm>
            <a:off x="9332843" y="2027582"/>
            <a:ext cx="2286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Data Collection</a:t>
            </a:r>
          </a:p>
          <a:p>
            <a:endParaRPr lang="en-US" b="1" dirty="0"/>
          </a:p>
          <a:p>
            <a:r>
              <a:rPr lang="en-US" b="1" dirty="0"/>
              <a:t> </a:t>
            </a:r>
          </a:p>
          <a:p>
            <a:r>
              <a:rPr lang="en-US" b="1" dirty="0"/>
              <a:t>   Preprocessing  </a:t>
            </a:r>
          </a:p>
          <a:p>
            <a:r>
              <a:rPr lang="en-US" b="1" dirty="0"/>
              <a:t>        </a:t>
            </a:r>
          </a:p>
          <a:p>
            <a:r>
              <a:rPr lang="en-US" b="1" dirty="0"/>
              <a:t> </a:t>
            </a:r>
          </a:p>
          <a:p>
            <a:r>
              <a:rPr lang="en-US" b="1" dirty="0"/>
              <a:t>   Model Training  </a:t>
            </a:r>
          </a:p>
          <a:p>
            <a:endParaRPr lang="en-US" b="1" dirty="0"/>
          </a:p>
          <a:p>
            <a:r>
              <a:rPr lang="en-US" b="1" dirty="0"/>
              <a:t> </a:t>
            </a:r>
          </a:p>
          <a:p>
            <a:r>
              <a:rPr lang="en-US" b="1" dirty="0"/>
              <a:t>    Evaluation  </a:t>
            </a:r>
          </a:p>
          <a:p>
            <a:endParaRPr lang="en-US" b="1" dirty="0"/>
          </a:p>
          <a:p>
            <a:r>
              <a:rPr lang="en-US" b="1" dirty="0"/>
              <a:t> </a:t>
            </a:r>
          </a:p>
          <a:p>
            <a:r>
              <a:rPr lang="en-US" b="1" dirty="0"/>
              <a:t>    Deployment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3BFECB-9662-EEB4-CB5C-35BD73DEE022}"/>
              </a:ext>
            </a:extLst>
          </p:cNvPr>
          <p:cNvCxnSpPr>
            <a:cxnSpLocks/>
          </p:cNvCxnSpPr>
          <p:nvPr/>
        </p:nvCxnSpPr>
        <p:spPr>
          <a:xfrm>
            <a:off x="10213637" y="2415208"/>
            <a:ext cx="0" cy="4572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CE7352-3AFB-18D6-96EB-79743C054D31}"/>
              </a:ext>
            </a:extLst>
          </p:cNvPr>
          <p:cNvCxnSpPr>
            <a:cxnSpLocks/>
          </p:cNvCxnSpPr>
          <p:nvPr/>
        </p:nvCxnSpPr>
        <p:spPr>
          <a:xfrm>
            <a:off x="10218842" y="3175552"/>
            <a:ext cx="0" cy="5068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207E60-9516-A68D-5D63-0E94DE7D2252}"/>
              </a:ext>
            </a:extLst>
          </p:cNvPr>
          <p:cNvCxnSpPr>
            <a:cxnSpLocks/>
          </p:cNvCxnSpPr>
          <p:nvPr/>
        </p:nvCxnSpPr>
        <p:spPr>
          <a:xfrm>
            <a:off x="10213637" y="4055378"/>
            <a:ext cx="0" cy="417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0A1921-1CC3-3010-56C8-77DECC3D3BDE}"/>
              </a:ext>
            </a:extLst>
          </p:cNvPr>
          <p:cNvCxnSpPr>
            <a:cxnSpLocks/>
          </p:cNvCxnSpPr>
          <p:nvPr/>
        </p:nvCxnSpPr>
        <p:spPr>
          <a:xfrm>
            <a:off x="10232571" y="4860235"/>
            <a:ext cx="0" cy="5068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584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BD52-ED36-EA0E-90C9-7CF17BE5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A49387-6A50-6351-7188-762CE09BB55B}"/>
              </a:ext>
            </a:extLst>
          </p:cNvPr>
          <p:cNvSpPr txBox="1"/>
          <p:nvPr/>
        </p:nvSpPr>
        <p:spPr>
          <a:xfrm>
            <a:off x="925286" y="566057"/>
            <a:ext cx="104176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&amp; Loading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43245C-D953-4580-E659-59C320CAE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0CCCB6-6C9B-7069-B978-56BBBC586087}"/>
              </a:ext>
            </a:extLst>
          </p:cNvPr>
          <p:cNvSpPr txBox="1"/>
          <p:nvPr/>
        </p:nvSpPr>
        <p:spPr>
          <a:xfrm>
            <a:off x="1023730" y="1827941"/>
            <a:ext cx="104176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dataset contains </a:t>
            </a:r>
            <a:r>
              <a:rPr lang="en-US" b="1" dirty="0"/>
              <a:t>14 features</a:t>
            </a:r>
            <a:r>
              <a:rPr lang="en-US" dirty="0"/>
              <a:t>, including age, gender, cholesterol, resting blood pressure, maximum heart rate, chest pain type, and ECG results.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target variable is </a:t>
            </a:r>
            <a:r>
              <a:rPr lang="en-US" b="1" dirty="0" err="1"/>
              <a:t>heart_disease</a:t>
            </a:r>
            <a:r>
              <a:rPr lang="en-US" dirty="0"/>
              <a:t> (0 = No disease, 1 = Disease).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 was loaded using </a:t>
            </a:r>
            <a:r>
              <a:rPr lang="en-US" b="1" dirty="0"/>
              <a:t>Pandas</a:t>
            </a:r>
            <a:r>
              <a:rPr lang="en-US" dirty="0"/>
              <a:t> and checked for missing values, </a:t>
            </a:r>
          </a:p>
          <a:p>
            <a:r>
              <a:rPr lang="en-US" dirty="0"/>
              <a:t>      data types, and distributions.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CC317C-B6BF-9F9A-8668-85349A77F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541242"/>
              </p:ext>
            </p:extLst>
          </p:nvPr>
        </p:nvGraphicFramePr>
        <p:xfrm>
          <a:off x="1432654" y="4124020"/>
          <a:ext cx="10008704" cy="246045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5604">
                  <a:extLst>
                    <a:ext uri="{9D8B030D-6E8A-4147-A177-3AD203B41FA5}">
                      <a16:colId xmlns:a16="http://schemas.microsoft.com/office/drawing/2014/main" val="2090929014"/>
                    </a:ext>
                  </a:extLst>
                </a:gridCol>
                <a:gridCol w="473079">
                  <a:extLst>
                    <a:ext uri="{9D8B030D-6E8A-4147-A177-3AD203B41FA5}">
                      <a16:colId xmlns:a16="http://schemas.microsoft.com/office/drawing/2014/main" val="3354296888"/>
                    </a:ext>
                  </a:extLst>
                </a:gridCol>
                <a:gridCol w="503209">
                  <a:extLst>
                    <a:ext uri="{9D8B030D-6E8A-4147-A177-3AD203B41FA5}">
                      <a16:colId xmlns:a16="http://schemas.microsoft.com/office/drawing/2014/main" val="489529299"/>
                    </a:ext>
                  </a:extLst>
                </a:gridCol>
                <a:gridCol w="810725">
                  <a:extLst>
                    <a:ext uri="{9D8B030D-6E8A-4147-A177-3AD203B41FA5}">
                      <a16:colId xmlns:a16="http://schemas.microsoft.com/office/drawing/2014/main" val="118196806"/>
                    </a:ext>
                  </a:extLst>
                </a:gridCol>
                <a:gridCol w="941187">
                  <a:extLst>
                    <a:ext uri="{9D8B030D-6E8A-4147-A177-3AD203B41FA5}">
                      <a16:colId xmlns:a16="http://schemas.microsoft.com/office/drawing/2014/main" val="662932093"/>
                    </a:ext>
                  </a:extLst>
                </a:gridCol>
                <a:gridCol w="787222">
                  <a:extLst>
                    <a:ext uri="{9D8B030D-6E8A-4147-A177-3AD203B41FA5}">
                      <a16:colId xmlns:a16="http://schemas.microsoft.com/office/drawing/2014/main" val="1529776094"/>
                    </a:ext>
                  </a:extLst>
                </a:gridCol>
                <a:gridCol w="583059">
                  <a:extLst>
                    <a:ext uri="{9D8B030D-6E8A-4147-A177-3AD203B41FA5}">
                      <a16:colId xmlns:a16="http://schemas.microsoft.com/office/drawing/2014/main" val="2748122833"/>
                    </a:ext>
                  </a:extLst>
                </a:gridCol>
                <a:gridCol w="577760">
                  <a:extLst>
                    <a:ext uri="{9D8B030D-6E8A-4147-A177-3AD203B41FA5}">
                      <a16:colId xmlns:a16="http://schemas.microsoft.com/office/drawing/2014/main" val="1403254782"/>
                    </a:ext>
                  </a:extLst>
                </a:gridCol>
                <a:gridCol w="698468">
                  <a:extLst>
                    <a:ext uri="{9D8B030D-6E8A-4147-A177-3AD203B41FA5}">
                      <a16:colId xmlns:a16="http://schemas.microsoft.com/office/drawing/2014/main" val="3919211188"/>
                    </a:ext>
                  </a:extLst>
                </a:gridCol>
                <a:gridCol w="704480">
                  <a:extLst>
                    <a:ext uri="{9D8B030D-6E8A-4147-A177-3AD203B41FA5}">
                      <a16:colId xmlns:a16="http://schemas.microsoft.com/office/drawing/2014/main" val="2746319707"/>
                    </a:ext>
                  </a:extLst>
                </a:gridCol>
                <a:gridCol w="789033">
                  <a:extLst>
                    <a:ext uri="{9D8B030D-6E8A-4147-A177-3AD203B41FA5}">
                      <a16:colId xmlns:a16="http://schemas.microsoft.com/office/drawing/2014/main" val="3594410168"/>
                    </a:ext>
                  </a:extLst>
                </a:gridCol>
                <a:gridCol w="629920">
                  <a:extLst>
                    <a:ext uri="{9D8B030D-6E8A-4147-A177-3AD203B41FA5}">
                      <a16:colId xmlns:a16="http://schemas.microsoft.com/office/drawing/2014/main" val="955460415"/>
                    </a:ext>
                  </a:extLst>
                </a:gridCol>
                <a:gridCol w="728085">
                  <a:extLst>
                    <a:ext uri="{9D8B030D-6E8A-4147-A177-3AD203B41FA5}">
                      <a16:colId xmlns:a16="http://schemas.microsoft.com/office/drawing/2014/main" val="1727138069"/>
                    </a:ext>
                  </a:extLst>
                </a:gridCol>
                <a:gridCol w="820045">
                  <a:extLst>
                    <a:ext uri="{9D8B030D-6E8A-4147-A177-3AD203B41FA5}">
                      <a16:colId xmlns:a16="http://schemas.microsoft.com/office/drawing/2014/main" val="3293818331"/>
                    </a:ext>
                  </a:extLst>
                </a:gridCol>
                <a:gridCol w="596828">
                  <a:extLst>
                    <a:ext uri="{9D8B030D-6E8A-4147-A177-3AD203B41FA5}">
                      <a16:colId xmlns:a16="http://schemas.microsoft.com/office/drawing/2014/main" val="2639677098"/>
                    </a:ext>
                  </a:extLst>
                </a:gridCol>
              </a:tblGrid>
              <a:tr h="6316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sex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 err="1">
                          <a:effectLst/>
                        </a:rPr>
                        <a:t>chest_pain_type</a:t>
                      </a:r>
                      <a:endParaRPr lang="en-US" sz="10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 err="1">
                          <a:effectLst/>
                        </a:rPr>
                        <a:t>resting_blood_pressure</a:t>
                      </a:r>
                      <a:endParaRPr lang="en-US" sz="10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cholesterol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fasting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blood_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sugar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resting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1" dirty="0" err="1">
                          <a:effectLst/>
                        </a:rPr>
                        <a:t>Ecg</a:t>
                      </a:r>
                      <a:endParaRPr lang="en-US" sz="10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max_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heat_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exercise_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induced_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angina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 err="1">
                          <a:effectLst/>
                        </a:rPr>
                        <a:t>st</a:t>
                      </a:r>
                      <a:r>
                        <a:rPr lang="en-US" sz="1000" b="1" dirty="0">
                          <a:effectLst/>
                        </a:rPr>
                        <a:t>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depression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 err="1">
                          <a:effectLst/>
                        </a:rPr>
                        <a:t>st_slope</a:t>
                      </a:r>
                      <a:endParaRPr lang="en-US" sz="10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num_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major_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vessels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thalassemia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heart_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disease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914725"/>
                  </a:ext>
                </a:extLst>
              </a:tr>
              <a:tr h="34352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3844094"/>
                  </a:ext>
                </a:extLst>
              </a:tr>
              <a:tr h="34352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102379"/>
                  </a:ext>
                </a:extLst>
              </a:tr>
              <a:tr h="34352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900291"/>
                  </a:ext>
                </a:extLst>
              </a:tr>
              <a:tr h="34352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650688"/>
                  </a:ext>
                </a:extLst>
              </a:tr>
              <a:tr h="34352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8983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70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9203-5CAF-C401-17FF-82A26B9F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1DDD7F-8258-D3EF-27A7-7CE6861536D7}"/>
              </a:ext>
            </a:extLst>
          </p:cNvPr>
          <p:cNvSpPr txBox="1"/>
          <p:nvPr/>
        </p:nvSpPr>
        <p:spPr>
          <a:xfrm>
            <a:off x="925286" y="566057"/>
            <a:ext cx="104176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&amp; Understanding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5696F0-A230-4170-D65B-94252D73C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8D4610-B473-2DAC-E795-881F1E7BAF55}"/>
              </a:ext>
            </a:extLst>
          </p:cNvPr>
          <p:cNvSpPr txBox="1"/>
          <p:nvPr/>
        </p:nvSpPr>
        <p:spPr>
          <a:xfrm>
            <a:off x="925286" y="2721736"/>
            <a:ext cx="53943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dataset was explored to understand the statistical properties and underlying relationships between features.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Important features affecting heart disease were found using a </a:t>
            </a:r>
            <a:r>
              <a:rPr lang="en-US" b="1" dirty="0"/>
              <a:t>correlation matrix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1" name="Picture 10" descr="A group of blue and white graphs&#10;&#10;AI-generated content may be incorrect.">
            <a:extLst>
              <a:ext uri="{FF2B5EF4-FFF2-40B4-BE49-F238E27FC236}">
                <a16:creationId xmlns:a16="http://schemas.microsoft.com/office/drawing/2014/main" id="{31BC1771-A7C4-3633-EDB5-9BB5EAE9A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235" y="1804625"/>
            <a:ext cx="5904061" cy="417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8D18A-46DB-F5D1-756C-F184C084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93F408-C014-7315-2453-24243AE17923}"/>
              </a:ext>
            </a:extLst>
          </p:cNvPr>
          <p:cNvSpPr txBox="1"/>
          <p:nvPr/>
        </p:nvSpPr>
        <p:spPr>
          <a:xfrm>
            <a:off x="661963" y="360087"/>
            <a:ext cx="104176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1CE53B-57E3-B251-26CE-AF290EB8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D5CD7C-EC5A-D457-389F-1CF060C9F1F1}"/>
              </a:ext>
            </a:extLst>
          </p:cNvPr>
          <p:cNvSpPr txBox="1"/>
          <p:nvPr/>
        </p:nvSpPr>
        <p:spPr>
          <a:xfrm>
            <a:off x="661963" y="2500139"/>
            <a:ext cx="58474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Comprehensive exploratory data analysis was carried out to visualize </a:t>
            </a:r>
            <a:r>
              <a:rPr lang="en-US" b="1" dirty="0"/>
              <a:t>feature distributions, correlations, and outliers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Graphs like heatmaps, histograms, and boxplots were made to explore the data.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EDA helped to find useful patterns and trends in the dataset.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3F5B1C-CFED-6968-EF0C-23E5B8B1C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18" y="1621971"/>
            <a:ext cx="5455016" cy="4907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764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CB8B-FB27-E31A-1192-5DD7AD26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AE09B7-84D1-C90F-F404-83250821B234}"/>
              </a:ext>
            </a:extLst>
          </p:cNvPr>
          <p:cNvSpPr txBox="1"/>
          <p:nvPr/>
        </p:nvSpPr>
        <p:spPr>
          <a:xfrm>
            <a:off x="925286" y="566057"/>
            <a:ext cx="104176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E86D32-2C91-E5D4-CDFA-9F899E55E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5286" y="2330335"/>
            <a:ext cx="103003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Categorical data was </a:t>
            </a:r>
            <a:r>
              <a:rPr lang="en-US" sz="2400" b="1" dirty="0"/>
              <a:t>encoded</a:t>
            </a:r>
            <a:r>
              <a:rPr lang="en-US" sz="2400" dirty="0"/>
              <a:t> into numbers.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All numerical features were </a:t>
            </a:r>
            <a:r>
              <a:rPr lang="en-US" sz="2400" b="1" dirty="0"/>
              <a:t>scaled</a:t>
            </a:r>
            <a:r>
              <a:rPr lang="en-US" sz="2400" dirty="0"/>
              <a:t> using </a:t>
            </a:r>
            <a:r>
              <a:rPr lang="en-US" sz="2400" b="1" i="1" dirty="0" err="1"/>
              <a:t>StandardScaler</a:t>
            </a:r>
            <a:r>
              <a:rPr lang="en-US" sz="2400" b="1" i="1" dirty="0"/>
              <a:t> </a:t>
            </a:r>
            <a:r>
              <a:rPr lang="en-US" sz="2400" dirty="0"/>
              <a:t>for better model performance.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dataset was split into </a:t>
            </a:r>
            <a:r>
              <a:rPr lang="en-US" sz="2400" b="1" dirty="0"/>
              <a:t>80% training</a:t>
            </a:r>
            <a:r>
              <a:rPr lang="en-US" sz="2400" dirty="0"/>
              <a:t> and </a:t>
            </a:r>
            <a:r>
              <a:rPr lang="en-US" sz="2400" b="1" dirty="0"/>
              <a:t>20% testing</a:t>
            </a:r>
            <a:r>
              <a:rPr lang="en-US" sz="2400" dirty="0"/>
              <a:t> sets.</a:t>
            </a:r>
            <a:br>
              <a:rPr lang="en-US" sz="2400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04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63" t="18284" r="13958" b="7927"/>
          <a:stretch/>
        </p:blipFill>
        <p:spPr>
          <a:xfrm>
            <a:off x="683490" y="92857"/>
            <a:ext cx="10898910" cy="657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1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D2712-5925-9393-290C-6311D679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CEF693-3F1B-C86F-2FE2-E46BBF83FD9B}"/>
              </a:ext>
            </a:extLst>
          </p:cNvPr>
          <p:cNvSpPr txBox="1"/>
          <p:nvPr/>
        </p:nvSpPr>
        <p:spPr>
          <a:xfrm>
            <a:off x="925286" y="566057"/>
            <a:ext cx="104176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Training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A1A8DE-0F20-800C-3FA2-50793CC05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5286" y="1939701"/>
            <a:ext cx="937850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US" sz="2400" dirty="0"/>
              <a:t>Four machine learning models were trained and compared: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Decision Tree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Random Forest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Support Vector Machine (SVM)</a:t>
            </a:r>
          </a:p>
          <a:p>
            <a:endParaRPr lang="en-US" sz="2400" dirty="0"/>
          </a:p>
          <a:p>
            <a:r>
              <a:rPr lang="en-US" sz="2400" dirty="0"/>
              <a:t>Each model was tested using </a:t>
            </a:r>
            <a:r>
              <a:rPr lang="en-US" sz="2400" b="1" dirty="0"/>
              <a:t>5-fold cross-validation</a:t>
            </a:r>
            <a:r>
              <a:rPr lang="en-US" sz="2400" dirty="0"/>
              <a:t> to make sure results were consistent and not biased.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115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53" t="23464" r="29923" b="15084"/>
          <a:stretch/>
        </p:blipFill>
        <p:spPr>
          <a:xfrm>
            <a:off x="3168861" y="3634002"/>
            <a:ext cx="3116856" cy="26785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25" t="28847" r="33764" b="19373"/>
          <a:stretch/>
        </p:blipFill>
        <p:spPr>
          <a:xfrm>
            <a:off x="3403221" y="550456"/>
            <a:ext cx="2798618" cy="23650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62" t="26610" r="29477" b="15927"/>
          <a:stretch/>
        </p:blipFill>
        <p:spPr>
          <a:xfrm>
            <a:off x="127533" y="3763817"/>
            <a:ext cx="2975544" cy="24189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48" t="27589" r="33839" b="21314"/>
          <a:stretch/>
        </p:blipFill>
        <p:spPr>
          <a:xfrm>
            <a:off x="325793" y="429489"/>
            <a:ext cx="2777284" cy="25492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31" t="29539" r="34240" b="20670"/>
          <a:stretch/>
        </p:blipFill>
        <p:spPr>
          <a:xfrm>
            <a:off x="9426864" y="561107"/>
            <a:ext cx="2604998" cy="23437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25" t="25993" r="30692" b="14585"/>
          <a:stretch/>
        </p:blipFill>
        <p:spPr>
          <a:xfrm>
            <a:off x="9318695" y="3763817"/>
            <a:ext cx="2761526" cy="24758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0" t="26902" r="29614" b="15798"/>
          <a:stretch/>
        </p:blipFill>
        <p:spPr>
          <a:xfrm>
            <a:off x="6201839" y="3735349"/>
            <a:ext cx="3135426" cy="255938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88" t="23498" r="32593" b="16753"/>
          <a:stretch/>
        </p:blipFill>
        <p:spPr>
          <a:xfrm>
            <a:off x="6469913" y="251688"/>
            <a:ext cx="2992142" cy="29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45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261F9-3D54-AE2B-6153-934F631B8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7ADD1F-D45A-8F7D-1C92-108B6142B7D1}"/>
              </a:ext>
            </a:extLst>
          </p:cNvPr>
          <p:cNvSpPr txBox="1"/>
          <p:nvPr/>
        </p:nvSpPr>
        <p:spPr>
          <a:xfrm>
            <a:off x="925286" y="566057"/>
            <a:ext cx="104176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Performance Analysis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615959-485D-C178-225B-384D3709F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5286" y="2033318"/>
            <a:ext cx="90823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models were tested using metrics such as </a:t>
            </a:r>
            <a:r>
              <a:rPr lang="en-US" sz="2400" b="1" dirty="0"/>
              <a:t>Accuracy, Precision, Recall, F1-Score, and ROC-AUC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br>
              <a:rPr lang="en-US" sz="2400" dirty="0"/>
            </a:br>
            <a:r>
              <a:rPr lang="en-US" sz="2400" dirty="0"/>
              <a:t>Among all models, the </a:t>
            </a:r>
            <a:r>
              <a:rPr lang="en-US" sz="2400" b="1" dirty="0"/>
              <a:t>Random Forest Classifier</a:t>
            </a:r>
            <a:r>
              <a:rPr lang="en-US" sz="2400" dirty="0"/>
              <a:t> performed the best with </a:t>
            </a:r>
            <a:r>
              <a:rPr lang="en-US" sz="2400" b="1" dirty="0"/>
              <a:t>high accuracy and ROC-AUC above 0.85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br>
              <a:rPr lang="en-US" sz="2400" dirty="0"/>
            </a:br>
            <a:r>
              <a:rPr lang="en-US" sz="2400" dirty="0"/>
              <a:t>Confusion matrices and ROC curves helped visualize how well each model classified patients.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98477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99" t="22038" r="33150" b="15274"/>
          <a:stretch/>
        </p:blipFill>
        <p:spPr>
          <a:xfrm>
            <a:off x="600363" y="544944"/>
            <a:ext cx="5532582" cy="56957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81" t="22529" r="20202" b="9397"/>
          <a:stretch/>
        </p:blipFill>
        <p:spPr>
          <a:xfrm>
            <a:off x="5668934" y="1110271"/>
            <a:ext cx="6272888" cy="456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60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5859-3F4C-D8DD-CE15-FCD60E9F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7834B0-F418-3C39-D0AB-556B1B3F258C}"/>
              </a:ext>
            </a:extLst>
          </p:cNvPr>
          <p:cNvSpPr txBox="1"/>
          <p:nvPr/>
        </p:nvSpPr>
        <p:spPr>
          <a:xfrm>
            <a:off x="581891" y="602765"/>
            <a:ext cx="104176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 API &amp; Docker Deployment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176574-2FD3-0181-FFC0-5C16D394C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891" y="5202072"/>
            <a:ext cx="7823200" cy="4636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1891" y="2609012"/>
            <a:ext cx="706858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 API deployment means making your trained machine learning model accessible through a web interface so others can send data and get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4" t="24964" r="24172" b="27070"/>
          <a:stretch/>
        </p:blipFill>
        <p:spPr>
          <a:xfrm>
            <a:off x="7320448" y="2348332"/>
            <a:ext cx="4696061" cy="278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14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7276B-7403-D6BF-BDC9-81D05DFA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B00D06-E932-698E-B796-8859F09915BB}"/>
              </a:ext>
            </a:extLst>
          </p:cNvPr>
          <p:cNvSpPr txBox="1"/>
          <p:nvPr/>
        </p:nvSpPr>
        <p:spPr>
          <a:xfrm>
            <a:off x="925286" y="566057"/>
            <a:ext cx="104176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Deployment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4EAA8C-D5AA-D224-6B52-AB87AD5C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5286" y="2089198"/>
            <a:ext cx="91331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Docker deployment makes your application portable and easy to run on any computer or server.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Benefits: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Works the same on all systems.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Easy to scale and manage.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Simplifies deployment for production use.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78018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DC14-24A4-83A3-80F3-7EB7CF45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A9192C-DD60-DC37-1D2D-65A5FB6C01AE}"/>
              </a:ext>
            </a:extLst>
          </p:cNvPr>
          <p:cNvSpPr txBox="1"/>
          <p:nvPr/>
        </p:nvSpPr>
        <p:spPr>
          <a:xfrm>
            <a:off x="925286" y="566057"/>
            <a:ext cx="104176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266F1F-149E-98DD-8A5C-0CEFFD4D5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5286" y="1952567"/>
            <a:ext cx="780472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 simple and accurate machine learning system was created to </a:t>
            </a:r>
            <a:r>
              <a:rPr lang="en-US" sz="2400" b="1" dirty="0"/>
              <a:t>predict heart disease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Random Forest model</a:t>
            </a:r>
            <a:r>
              <a:rPr lang="en-US" sz="2400" dirty="0"/>
              <a:t> gave the best and most stable results.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This project shows how AI can help in </a:t>
            </a:r>
            <a:r>
              <a:rPr lang="en-US" sz="2400" b="1" dirty="0"/>
              <a:t>early diagnosis</a:t>
            </a:r>
            <a:r>
              <a:rPr lang="en-US" sz="2400" dirty="0"/>
              <a:t> and </a:t>
            </a:r>
            <a:r>
              <a:rPr lang="en-US" sz="2400" b="1" dirty="0"/>
              <a:t>risk prediction</a:t>
            </a:r>
            <a:r>
              <a:rPr lang="en-US" sz="2400" dirty="0"/>
              <a:t> for better </a:t>
            </a:r>
            <a:r>
              <a:rPr lang="en-US" sz="2400"/>
              <a:t>healthcare.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 the future, this model can be </a:t>
            </a:r>
            <a:r>
              <a:rPr lang="en-US" sz="2400" b="1" dirty="0"/>
              <a:t>linked to hospital systems</a:t>
            </a:r>
            <a:r>
              <a:rPr lang="en-US" sz="2400" dirty="0"/>
              <a:t> and </a:t>
            </a:r>
            <a:r>
              <a:rPr lang="en-US" sz="2400" b="1" dirty="0"/>
              <a:t>deployed on cloud platforms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57615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A4D34-C2E1-C9C0-E176-2E6A147A3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A228EE-FED1-835D-6A31-D4A60C3188B4}"/>
              </a:ext>
            </a:extLst>
          </p:cNvPr>
          <p:cNvSpPr txBox="1"/>
          <p:nvPr/>
        </p:nvSpPr>
        <p:spPr>
          <a:xfrm>
            <a:off x="1023257" y="2490281"/>
            <a:ext cx="1038497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8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Queries ???</a:t>
            </a:r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D9250A-B516-92CD-8809-B1DD666EA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14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755</Words>
  <Application>Microsoft Office PowerPoint</Application>
  <PresentationFormat>Widescreen</PresentationFormat>
  <Paragraphs>212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Anantason Bold</vt:lpstr>
      <vt:lpstr>Arial</vt:lpstr>
      <vt:lpstr>Calibri</vt:lpstr>
      <vt:lpstr>Calibri Light</vt:lpstr>
      <vt:lpstr>Times New Roman</vt:lpstr>
      <vt:lpstr>Wingdings</vt:lpstr>
      <vt:lpstr>Office Theme</vt:lpstr>
      <vt:lpstr>     Capstone Project 2  HEART DISEASE DETECTION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2  HEART DISEASE DETECTION</dc:title>
  <dc:creator>TNS INDIA FOUNDATION</dc:creator>
  <cp:lastModifiedBy>Rida Afnar</cp:lastModifiedBy>
  <cp:revision>11</cp:revision>
  <dcterms:created xsi:type="dcterms:W3CDTF">2025-09-02T04:26:51Z</dcterms:created>
  <dcterms:modified xsi:type="dcterms:W3CDTF">2025-11-05T14:11:35Z</dcterms:modified>
</cp:coreProperties>
</file>